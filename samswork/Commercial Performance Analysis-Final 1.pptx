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Ex1.xml" ContentType="application/vnd.ms-office.chartex+xml"/>
  <Override PartName="/ppt/charts/style3.xml" ContentType="application/vnd.ms-office.chartstyle+xml"/>
  <Override PartName="/ppt/charts/colors3.xml" ContentType="application/vnd.ms-office.chartcolorstyle+xml"/>
  <Override PartName="/ppt/charts/chart3.xml" ContentType="application/vnd.openxmlformats-officedocument.drawingml.chart+xml"/>
  <Override PartName="/ppt/charts/style4.xml" ContentType="application/vnd.ms-office.chartstyle+xml"/>
  <Override PartName="/ppt/charts/colors4.xml" ContentType="application/vnd.ms-office.chartcolorstyle+xml"/>
  <Override PartName="/ppt/charts/chartEx2.xml" ContentType="application/vnd.ms-office.chartex+xml"/>
  <Override PartName="/ppt/charts/style5.xml" ContentType="application/vnd.ms-office.chartstyle+xml"/>
  <Override PartName="/ppt/charts/colors5.xml" ContentType="application/vnd.ms-office.chartcolorstyle+xml"/>
  <Override PartName="/ppt/charts/chart4.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70" r:id="rId12"/>
    <p:sldId id="266" r:id="rId13"/>
    <p:sldId id="267" r:id="rId14"/>
    <p:sldId id="268" r:id="rId15"/>
    <p:sldId id="269"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HP\Desktop\Cleaned%20Case%20Study%20File-Version%204.2.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HP\Desktop\Cleaned%20Case%20Study%20File-Version%204.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HP\Desktop\Cleaned%20Case%20Study%20File-Version%204.2.xlsx" TargetMode="External"/><Relationship Id="rId2" Type="http://schemas.microsoft.com/office/2011/relationships/chartColorStyle" Target="colors4.xml"/><Relationship Id="rId1" Type="http://schemas.microsoft.com/office/2011/relationships/chartStyle" Target="style4.xml"/></Relationships>
</file>

<file path=ppt/charts/_rels/chart4.xml.rels><?xml version="1.0" encoding="UTF-8" standalone="yes"?>
<Relationships xmlns="http://schemas.openxmlformats.org/package/2006/relationships"><Relationship Id="rId3" Type="http://schemas.openxmlformats.org/officeDocument/2006/relationships/oleObject" Target="file:///C:\Users\HP\Desktop\Cleaned%20Case%20Study%20File-Version%204.2.xlsx" TargetMode="External"/><Relationship Id="rId2" Type="http://schemas.microsoft.com/office/2011/relationships/chartColorStyle" Target="colors6.xml"/><Relationship Id="rId1" Type="http://schemas.microsoft.com/office/2011/relationships/chartStyle" Target="style6.xml"/></Relationships>
</file>

<file path=ppt/charts/_rels/chartEx1.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oleObject" Target="file:///C:\Users\HP\Desktop\Cleaned%20Case%20Study%20File-Version%204.2.xlsx" TargetMode="External"/></Relationships>
</file>

<file path=ppt/charts/_rels/chartEx2.xml.rels><?xml version="1.0" encoding="UTF-8" standalone="yes"?>
<Relationships xmlns="http://schemas.openxmlformats.org/package/2006/relationships"><Relationship Id="rId3" Type="http://schemas.microsoft.com/office/2011/relationships/chartColorStyle" Target="colors5.xml"/><Relationship Id="rId2" Type="http://schemas.microsoft.com/office/2011/relationships/chartStyle" Target="style5.xml"/><Relationship Id="rId1" Type="http://schemas.openxmlformats.org/officeDocument/2006/relationships/oleObject" Target="file:///C:\Users\HP\Desktop\Cleaned%20Case%20Study%20File-Version%204.2.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IN" sz="1000" b="0" i="0" u="none" strike="noStrike" kern="1200" spc="0" baseline="0" dirty="0">
                <a:solidFill>
                  <a:schemeClr val="tx1">
                    <a:lumMod val="95000"/>
                    <a:lumOff val="5000"/>
                  </a:schemeClr>
                </a:solidFill>
              </a:rPr>
              <a:t>Revenue vs Quantity by Quarter</a:t>
            </a:r>
            <a:endParaRPr lang="en-IN" dirty="0">
              <a:solidFill>
                <a:schemeClr val="tx1">
                  <a:lumMod val="95000"/>
                  <a:lumOff val="5000"/>
                </a:schemeClr>
              </a:solidFill>
            </a:endParaRPr>
          </a:p>
        </c:rich>
      </c:tx>
      <c:overlay val="0"/>
      <c:spPr>
        <a:noFill/>
        <a:ln>
          <a:solidFill>
            <a:schemeClr val="bg1"/>
          </a:solid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IN"/>
        </a:p>
      </c:txPr>
    </c:title>
    <c:autoTitleDeleted val="0"/>
    <c:plotArea>
      <c:layout/>
      <c:lineChart>
        <c:grouping val="stacked"/>
        <c:varyColors val="0"/>
        <c:ser>
          <c:idx val="0"/>
          <c:order val="0"/>
          <c:tx>
            <c:strRef>
              <c:f>'QoQ Growth'!$B$11</c:f>
              <c:strCache>
                <c:ptCount val="1"/>
                <c:pt idx="0">
                  <c:v>Revenue (Billions)</c:v>
                </c:pt>
              </c:strCache>
            </c:strRef>
          </c:tx>
          <c:spPr>
            <a:ln w="28575" cap="rnd">
              <a:solidFill>
                <a:schemeClr val="accent1"/>
              </a:solidFill>
              <a:round/>
            </a:ln>
            <a:effectLst/>
          </c:spPr>
          <c:marker>
            <c:symbol val="none"/>
          </c:marker>
          <c:cat>
            <c:strRef>
              <c:f>'QoQ Growth'!$A$12:$A$19</c:f>
              <c:strCache>
                <c:ptCount val="8"/>
                <c:pt idx="0">
                  <c:v>Q1(23-24)</c:v>
                </c:pt>
                <c:pt idx="1">
                  <c:v>Q2(23-24)</c:v>
                </c:pt>
                <c:pt idx="2">
                  <c:v>Q3(23-24)</c:v>
                </c:pt>
                <c:pt idx="3">
                  <c:v>Q4(23-24)</c:v>
                </c:pt>
                <c:pt idx="4">
                  <c:v>Q1(24-25)</c:v>
                </c:pt>
                <c:pt idx="5">
                  <c:v>Q2(24-25)</c:v>
                </c:pt>
                <c:pt idx="6">
                  <c:v>Q3(24-25)</c:v>
                </c:pt>
                <c:pt idx="7">
                  <c:v>Q4(24-25)</c:v>
                </c:pt>
              </c:strCache>
            </c:strRef>
          </c:cat>
          <c:val>
            <c:numRef>
              <c:f>'QoQ Growth'!$B$12:$B$19</c:f>
              <c:numCache>
                <c:formatCode>"₹"\ #,##0.00</c:formatCode>
                <c:ptCount val="8"/>
                <c:pt idx="0">
                  <c:v>1608125623.0899899</c:v>
                </c:pt>
                <c:pt idx="1">
                  <c:v>1780362187.6799998</c:v>
                </c:pt>
                <c:pt idx="2">
                  <c:v>1768419784.9300191</c:v>
                </c:pt>
                <c:pt idx="3">
                  <c:v>1792905603.429992</c:v>
                </c:pt>
                <c:pt idx="4">
                  <c:v>1742586553.4700177</c:v>
                </c:pt>
                <c:pt idx="5">
                  <c:v>1795562507.7500153</c:v>
                </c:pt>
                <c:pt idx="6">
                  <c:v>1740480388.149982</c:v>
                </c:pt>
                <c:pt idx="7">
                  <c:v>1767077995.619993</c:v>
                </c:pt>
              </c:numCache>
            </c:numRef>
          </c:val>
          <c:smooth val="0"/>
          <c:extLst>
            <c:ext xmlns:c16="http://schemas.microsoft.com/office/drawing/2014/chart" uri="{C3380CC4-5D6E-409C-BE32-E72D297353CC}">
              <c16:uniqueId val="{00000000-AA3A-4AF7-B04B-95467BB01D62}"/>
            </c:ext>
          </c:extLst>
        </c:ser>
        <c:ser>
          <c:idx val="1"/>
          <c:order val="1"/>
          <c:tx>
            <c:strRef>
              <c:f>'QoQ Growth'!$C$11</c:f>
              <c:strCache>
                <c:ptCount val="1"/>
                <c:pt idx="0">
                  <c:v>Quantity (Millions)</c:v>
                </c:pt>
              </c:strCache>
            </c:strRef>
          </c:tx>
          <c:spPr>
            <a:ln w="28575" cap="rnd">
              <a:solidFill>
                <a:schemeClr val="accent2"/>
              </a:solidFill>
              <a:round/>
            </a:ln>
            <a:effectLst/>
          </c:spPr>
          <c:marker>
            <c:symbol val="none"/>
          </c:marker>
          <c:dLbls>
            <c:dLbl>
              <c:idx val="0"/>
              <c:tx>
                <c:rich>
                  <a:bodyPr/>
                  <a:lstStyle/>
                  <a:p>
                    <a:r>
                      <a:rPr lang="en-US" sz="1000" b="1" dirty="0">
                        <a:solidFill>
                          <a:schemeClr val="tx1">
                            <a:lumMod val="95000"/>
                            <a:lumOff val="5000"/>
                          </a:schemeClr>
                        </a:solidFill>
                      </a:rPr>
                      <a:t>5. 64</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F9AC-4326-9276-2E2D7AE73985}"/>
                </c:ext>
              </c:extLst>
            </c:dLbl>
            <c:dLbl>
              <c:idx val="1"/>
              <c:tx>
                <c:rich>
                  <a:bodyPr/>
                  <a:lstStyle/>
                  <a:p>
                    <a:r>
                      <a:rPr lang="en-US" dirty="0"/>
                      <a:t>6.02</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AA3A-4AF7-B04B-95467BB01D62}"/>
                </c:ext>
              </c:extLst>
            </c:dLbl>
            <c:dLbl>
              <c:idx val="2"/>
              <c:tx>
                <c:rich>
                  <a:bodyPr/>
                  <a:lstStyle/>
                  <a:p>
                    <a:r>
                      <a:rPr lang="en-US"/>
                      <a:t>5.84</a:t>
                    </a:r>
                    <a:endParaRPr lang="en-US" dirty="0"/>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F9AC-4326-9276-2E2D7AE73985}"/>
                </c:ext>
              </c:extLst>
            </c:dLbl>
            <c:dLbl>
              <c:idx val="3"/>
              <c:tx>
                <c:rich>
                  <a:bodyPr/>
                  <a:lstStyle/>
                  <a:p>
                    <a:r>
                      <a:rPr lang="en-US"/>
                      <a:t>5.93</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F9AC-4326-9276-2E2D7AE73985}"/>
                </c:ext>
              </c:extLst>
            </c:dLbl>
            <c:dLbl>
              <c:idx val="4"/>
              <c:tx>
                <c:rich>
                  <a:bodyPr/>
                  <a:lstStyle/>
                  <a:p>
                    <a:r>
                      <a:rPr lang="en-US" dirty="0"/>
                      <a:t>5.75</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F9AC-4326-9276-2E2D7AE73985}"/>
                </c:ext>
              </c:extLst>
            </c:dLbl>
            <c:dLbl>
              <c:idx val="5"/>
              <c:tx>
                <c:rich>
                  <a:bodyPr/>
                  <a:lstStyle/>
                  <a:p>
                    <a:r>
                      <a:rPr lang="en-US"/>
                      <a:t>5.71</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F9AC-4326-9276-2E2D7AE73985}"/>
                </c:ext>
              </c:extLst>
            </c:dLbl>
            <c:dLbl>
              <c:idx val="6"/>
              <c:tx>
                <c:rich>
                  <a:bodyPr/>
                  <a:lstStyle/>
                  <a:p>
                    <a:r>
                      <a:rPr lang="en-US"/>
                      <a:t>7.98</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F9AC-4326-9276-2E2D7AE73985}"/>
                </c:ext>
              </c:extLst>
            </c:dLbl>
            <c:dLbl>
              <c:idx val="7"/>
              <c:tx>
                <c:rich>
                  <a:bodyPr/>
                  <a:lstStyle/>
                  <a:p>
                    <a:r>
                      <a:rPr lang="en-US"/>
                      <a:t>7.74</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F9AC-4326-9276-2E2D7AE73985}"/>
                </c:ext>
              </c:extLst>
            </c:dLbl>
            <c:numFmt formatCode="\1.00" sourceLinked="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95000"/>
                        <a:lumOff val="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'QoQ Growth'!$A$12:$A$19</c:f>
              <c:strCache>
                <c:ptCount val="8"/>
                <c:pt idx="0">
                  <c:v>Q1(23-24)</c:v>
                </c:pt>
                <c:pt idx="1">
                  <c:v>Q2(23-24)</c:v>
                </c:pt>
                <c:pt idx="2">
                  <c:v>Q3(23-24)</c:v>
                </c:pt>
                <c:pt idx="3">
                  <c:v>Q4(23-24)</c:v>
                </c:pt>
                <c:pt idx="4">
                  <c:v>Q1(24-25)</c:v>
                </c:pt>
                <c:pt idx="5">
                  <c:v>Q2(24-25)</c:v>
                </c:pt>
                <c:pt idx="6">
                  <c:v>Q3(24-25)</c:v>
                </c:pt>
                <c:pt idx="7">
                  <c:v>Q4(24-25)</c:v>
                </c:pt>
              </c:strCache>
            </c:strRef>
          </c:cat>
          <c:val>
            <c:numRef>
              <c:f>'QoQ Growth'!$C$12:$C$19</c:f>
              <c:numCache>
                <c:formatCode>0</c:formatCode>
                <c:ptCount val="8"/>
                <c:pt idx="0">
                  <c:v>56426931.300000064</c:v>
                </c:pt>
                <c:pt idx="1">
                  <c:v>60228757.940000094</c:v>
                </c:pt>
                <c:pt idx="2">
                  <c:v>58416785.580000117</c:v>
                </c:pt>
                <c:pt idx="3">
                  <c:v>59366923.680000104</c:v>
                </c:pt>
                <c:pt idx="4">
                  <c:v>57567959.080000043</c:v>
                </c:pt>
                <c:pt idx="5">
                  <c:v>57199023.670000114</c:v>
                </c:pt>
                <c:pt idx="6">
                  <c:v>79871714.510000035</c:v>
                </c:pt>
                <c:pt idx="7">
                  <c:v>77470241.829999983</c:v>
                </c:pt>
              </c:numCache>
            </c:numRef>
          </c:val>
          <c:smooth val="0"/>
          <c:extLst>
            <c:ext xmlns:c16="http://schemas.microsoft.com/office/drawing/2014/chart" uri="{C3380CC4-5D6E-409C-BE32-E72D297353CC}">
              <c16:uniqueId val="{00000001-AA3A-4AF7-B04B-95467BB01D62}"/>
            </c:ext>
          </c:extLst>
        </c:ser>
        <c:dLbls>
          <c:showLegendKey val="0"/>
          <c:showVal val="0"/>
          <c:showCatName val="0"/>
          <c:showSerName val="0"/>
          <c:showPercent val="0"/>
          <c:showBubbleSize val="0"/>
        </c:dLbls>
        <c:smooth val="0"/>
        <c:axId val="1320301616"/>
        <c:axId val="1314599216"/>
      </c:lineChart>
      <c:catAx>
        <c:axId val="1320301616"/>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dirty="0"/>
                  <a:t>Quarters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14599216"/>
        <c:crosses val="autoZero"/>
        <c:auto val="1"/>
        <c:lblAlgn val="ctr"/>
        <c:lblOffset val="100"/>
        <c:noMultiLvlLbl val="0"/>
      </c:catAx>
      <c:valAx>
        <c:axId val="131459921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dirty="0"/>
                  <a:t>Revenue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quot;₹&quot;\ #,##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0301616"/>
        <c:crosses val="autoZero"/>
        <c:crossBetween val="between"/>
        <c:dispUnits>
          <c:builtInUnit val="billions"/>
        </c:dispUnits>
      </c:valAx>
      <c:spPr>
        <a:noFill/>
        <a:ln>
          <a:noFill/>
        </a:ln>
        <a:effectLst/>
      </c:spPr>
    </c:plotArea>
    <c:legend>
      <c:legendPos val="b"/>
      <c:overlay val="0"/>
      <c:spPr>
        <a:noFill/>
        <a:ln>
          <a:solidFill>
            <a:schemeClr val="tx1">
              <a:lumMod val="95000"/>
              <a:lumOff val="5000"/>
              <a:alpha val="0"/>
            </a:schemeClr>
          </a:solid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QoQ</a:t>
            </a:r>
            <a:r>
              <a:rPr lang="en-IN" sz="1400" b="0" i="0" u="none" strike="noStrike" baseline="0"/>
              <a:t>% Growth</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'QoQ Growth'!$B$1</c:f>
              <c:strCache>
                <c:ptCount val="1"/>
                <c:pt idx="0">
                  <c:v>Revenue</c:v>
                </c:pt>
              </c:strCache>
            </c:strRef>
          </c:tx>
          <c:spPr>
            <a:solidFill>
              <a:schemeClr val="accent1"/>
            </a:solidFill>
            <a:ln>
              <a:noFill/>
            </a:ln>
            <a:effectLst/>
          </c:spPr>
          <c:invertIfNegative val="0"/>
          <c:dLbls>
            <c:numFmt formatCode="&quot;₹&quot;\ 0.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'QoQ Growth'!$A$2:$A$9</c:f>
              <c:strCache>
                <c:ptCount val="8"/>
                <c:pt idx="0">
                  <c:v>Q1(23-24)</c:v>
                </c:pt>
                <c:pt idx="1">
                  <c:v>Q2(23-24)</c:v>
                </c:pt>
                <c:pt idx="2">
                  <c:v>Q3(23-24)</c:v>
                </c:pt>
                <c:pt idx="3">
                  <c:v>Q4(23-24)</c:v>
                </c:pt>
                <c:pt idx="4">
                  <c:v>Q1(24-25)</c:v>
                </c:pt>
                <c:pt idx="5">
                  <c:v>Q2(24-25)</c:v>
                </c:pt>
                <c:pt idx="6">
                  <c:v>Q3(24-25)</c:v>
                </c:pt>
                <c:pt idx="7">
                  <c:v>Q4(24-25)</c:v>
                </c:pt>
              </c:strCache>
            </c:strRef>
          </c:cat>
          <c:val>
            <c:numRef>
              <c:f>'QoQ Growth'!$B$2:$B$9</c:f>
              <c:numCache>
                <c:formatCode>"₹"\ #,##0.00</c:formatCode>
                <c:ptCount val="8"/>
                <c:pt idx="0">
                  <c:v>1608125623.0899899</c:v>
                </c:pt>
                <c:pt idx="1">
                  <c:v>1780362187.6799998</c:v>
                </c:pt>
                <c:pt idx="2">
                  <c:v>1768419784.9300191</c:v>
                </c:pt>
                <c:pt idx="3">
                  <c:v>1792905603.429992</c:v>
                </c:pt>
                <c:pt idx="4">
                  <c:v>1742586553.4700177</c:v>
                </c:pt>
                <c:pt idx="5">
                  <c:v>1795562507.7500153</c:v>
                </c:pt>
                <c:pt idx="6">
                  <c:v>1740480388.149982</c:v>
                </c:pt>
                <c:pt idx="7">
                  <c:v>1767077995.619993</c:v>
                </c:pt>
              </c:numCache>
            </c:numRef>
          </c:val>
          <c:extLst>
            <c:ext xmlns:c16="http://schemas.microsoft.com/office/drawing/2014/chart" uri="{C3380CC4-5D6E-409C-BE32-E72D297353CC}">
              <c16:uniqueId val="{00000000-92C0-4F53-B04B-10365D89B850}"/>
            </c:ext>
          </c:extLst>
        </c:ser>
        <c:dLbls>
          <c:showLegendKey val="0"/>
          <c:showVal val="1"/>
          <c:showCatName val="0"/>
          <c:showSerName val="0"/>
          <c:showPercent val="0"/>
          <c:showBubbleSize val="0"/>
        </c:dLbls>
        <c:gapWidth val="219"/>
        <c:overlap val="-27"/>
        <c:axId val="1574138351"/>
        <c:axId val="1574139791"/>
      </c:barChart>
      <c:lineChart>
        <c:grouping val="standard"/>
        <c:varyColors val="0"/>
        <c:ser>
          <c:idx val="1"/>
          <c:order val="1"/>
          <c:tx>
            <c:strRef>
              <c:f>'QoQ Growth'!$C$1</c:f>
              <c:strCache>
                <c:ptCount val="1"/>
                <c:pt idx="0">
                  <c:v>Growth</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'QoQ Growth'!$A$2:$A$9</c:f>
              <c:strCache>
                <c:ptCount val="8"/>
                <c:pt idx="0">
                  <c:v>Q1(23-24)</c:v>
                </c:pt>
                <c:pt idx="1">
                  <c:v>Q2(23-24)</c:v>
                </c:pt>
                <c:pt idx="2">
                  <c:v>Q3(23-24)</c:v>
                </c:pt>
                <c:pt idx="3">
                  <c:v>Q4(23-24)</c:v>
                </c:pt>
                <c:pt idx="4">
                  <c:v>Q1(24-25)</c:v>
                </c:pt>
                <c:pt idx="5">
                  <c:v>Q2(24-25)</c:v>
                </c:pt>
                <c:pt idx="6">
                  <c:v>Q3(24-25)</c:v>
                </c:pt>
                <c:pt idx="7">
                  <c:v>Q4(24-25)</c:v>
                </c:pt>
              </c:strCache>
            </c:strRef>
          </c:cat>
          <c:val>
            <c:numRef>
              <c:f>'QoQ Growth'!$C$2:$C$9</c:f>
              <c:numCache>
                <c:formatCode>0%</c:formatCode>
                <c:ptCount val="8"/>
                <c:pt idx="0">
                  <c:v>9.6742430153750003E-2</c:v>
                </c:pt>
                <c:pt idx="1">
                  <c:v>-6.7531492532205972E-3</c:v>
                </c:pt>
                <c:pt idx="2">
                  <c:v>1.365705949779465E-2</c:v>
                </c:pt>
                <c:pt idx="3">
                  <c:v>-2.8876069231553416E-2</c:v>
                </c:pt>
                <c:pt idx="4">
                  <c:v>2.9503820697604526E-2</c:v>
                </c:pt>
                <c:pt idx="5">
                  <c:v>-3.1647653127871211E-2</c:v>
                </c:pt>
                <c:pt idx="6">
                  <c:v>1.5051745048004527E-2</c:v>
                </c:pt>
              </c:numCache>
            </c:numRef>
          </c:val>
          <c:smooth val="0"/>
          <c:extLst>
            <c:ext xmlns:c16="http://schemas.microsoft.com/office/drawing/2014/chart" uri="{C3380CC4-5D6E-409C-BE32-E72D297353CC}">
              <c16:uniqueId val="{00000001-92C0-4F53-B04B-10365D89B850}"/>
            </c:ext>
          </c:extLst>
        </c:ser>
        <c:dLbls>
          <c:showLegendKey val="0"/>
          <c:showVal val="1"/>
          <c:showCatName val="0"/>
          <c:showSerName val="0"/>
          <c:showPercent val="0"/>
          <c:showBubbleSize val="0"/>
        </c:dLbls>
        <c:marker val="1"/>
        <c:smooth val="0"/>
        <c:axId val="1772397231"/>
        <c:axId val="1772399151"/>
      </c:lineChart>
      <c:catAx>
        <c:axId val="15741383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74139791"/>
        <c:crosses val="autoZero"/>
        <c:auto val="1"/>
        <c:lblAlgn val="ctr"/>
        <c:lblOffset val="100"/>
        <c:noMultiLvlLbl val="0"/>
      </c:catAx>
      <c:valAx>
        <c:axId val="1574139791"/>
        <c:scaling>
          <c:orientation val="minMax"/>
        </c:scaling>
        <c:delete val="0"/>
        <c:axPos val="l"/>
        <c:majorGridlines>
          <c:spPr>
            <a:ln w="9525" cap="flat" cmpd="sng" algn="ctr">
              <a:solidFill>
                <a:schemeClr val="tx1">
                  <a:lumMod val="15000"/>
                  <a:lumOff val="85000"/>
                </a:schemeClr>
              </a:solidFill>
              <a:round/>
            </a:ln>
            <a:effectLst/>
          </c:spPr>
        </c:majorGridlines>
        <c:numFmt formatCode="&quot;₹&quot;\ #,##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74138351"/>
        <c:crosses val="autoZero"/>
        <c:crossBetween val="between"/>
        <c:dispUnits>
          <c:builtInUnit val="billions"/>
          <c:dispUnitsLbl>
            <c:layout>
              <c:manualLayout>
                <c:xMode val="edge"/>
                <c:yMode val="edge"/>
                <c:x val="0"/>
                <c:y val="0.4609053354692994"/>
              </c:manualLayout>
            </c:layout>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dispUnitsLbl>
        </c:dispUnits>
      </c:valAx>
      <c:valAx>
        <c:axId val="1772399151"/>
        <c:scaling>
          <c:orientation val="minMax"/>
        </c:scaling>
        <c:delete val="0"/>
        <c:axPos val="r"/>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72397231"/>
        <c:crosses val="max"/>
        <c:crossBetween val="between"/>
      </c:valAx>
      <c:catAx>
        <c:axId val="1772397231"/>
        <c:scaling>
          <c:orientation val="minMax"/>
        </c:scaling>
        <c:delete val="1"/>
        <c:axPos val="b"/>
        <c:numFmt formatCode="General" sourceLinked="1"/>
        <c:majorTickMark val="none"/>
        <c:minorTickMark val="none"/>
        <c:tickLblPos val="nextTo"/>
        <c:crossAx val="1772399151"/>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r>
              <a:rPr lang="en-US" sz="1800"/>
              <a:t>Revenue contributed by each Channel</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Channel!$B$1</c:f>
              <c:strCache>
                <c:ptCount val="1"/>
                <c:pt idx="0">
                  <c:v>Revenue</c:v>
                </c:pt>
              </c:strCache>
            </c:strRef>
          </c:tx>
          <c:dPt>
            <c:idx val="0"/>
            <c:bubble3D val="0"/>
            <c:spPr>
              <a:gradFill rotWithShape="1">
                <a:gsLst>
                  <a:gs pos="0">
                    <a:schemeClr val="accent1">
                      <a:tint val="97000"/>
                      <a:satMod val="100000"/>
                      <a:lumMod val="102000"/>
                    </a:schemeClr>
                  </a:gs>
                  <a:gs pos="50000">
                    <a:schemeClr val="accent1">
                      <a:shade val="100000"/>
                      <a:satMod val="100000"/>
                      <a:lumMod val="100000"/>
                    </a:schemeClr>
                  </a:gs>
                  <a:gs pos="100000">
                    <a:schemeClr val="accent1">
                      <a:shade val="80000"/>
                      <a:satMod val="100000"/>
                      <a:lumMod val="99000"/>
                    </a:schemeClr>
                  </a:gs>
                </a:gsLst>
                <a:lin ang="27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272A-4B53-9D56-41192F8636F4}"/>
              </c:ext>
            </c:extLst>
          </c:dPt>
          <c:dPt>
            <c:idx val="1"/>
            <c:bubble3D val="0"/>
            <c:spPr>
              <a:gradFill rotWithShape="1">
                <a:gsLst>
                  <a:gs pos="0">
                    <a:schemeClr val="accent2">
                      <a:tint val="97000"/>
                      <a:satMod val="100000"/>
                      <a:lumMod val="102000"/>
                    </a:schemeClr>
                  </a:gs>
                  <a:gs pos="50000">
                    <a:schemeClr val="accent2">
                      <a:shade val="100000"/>
                      <a:satMod val="100000"/>
                      <a:lumMod val="100000"/>
                    </a:schemeClr>
                  </a:gs>
                  <a:gs pos="100000">
                    <a:schemeClr val="accent2">
                      <a:shade val="80000"/>
                      <a:satMod val="100000"/>
                      <a:lumMod val="99000"/>
                    </a:schemeClr>
                  </a:gs>
                </a:gsLst>
                <a:lin ang="27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272A-4B53-9D56-41192F8636F4}"/>
              </c:ext>
            </c:extLst>
          </c:dPt>
          <c:dPt>
            <c:idx val="2"/>
            <c:bubble3D val="0"/>
            <c:spPr>
              <a:gradFill rotWithShape="1">
                <a:gsLst>
                  <a:gs pos="0">
                    <a:schemeClr val="accent3">
                      <a:tint val="97000"/>
                      <a:satMod val="100000"/>
                      <a:lumMod val="102000"/>
                    </a:schemeClr>
                  </a:gs>
                  <a:gs pos="50000">
                    <a:schemeClr val="accent3">
                      <a:shade val="100000"/>
                      <a:satMod val="100000"/>
                      <a:lumMod val="100000"/>
                    </a:schemeClr>
                  </a:gs>
                  <a:gs pos="100000">
                    <a:schemeClr val="accent3">
                      <a:shade val="80000"/>
                      <a:satMod val="100000"/>
                      <a:lumMod val="99000"/>
                    </a:schemeClr>
                  </a:gs>
                </a:gsLst>
                <a:lin ang="27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272A-4B53-9D56-41192F8636F4}"/>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Channel!$A$2:$A$4</c:f>
              <c:strCache>
                <c:ptCount val="3"/>
                <c:pt idx="0">
                  <c:v>B2B</c:v>
                </c:pt>
                <c:pt idx="1">
                  <c:v>Ecommerce</c:v>
                </c:pt>
                <c:pt idx="2">
                  <c:v>Retail Chain</c:v>
                </c:pt>
              </c:strCache>
            </c:strRef>
          </c:cat>
          <c:val>
            <c:numRef>
              <c:f>Channel!$B$2:$B$4</c:f>
              <c:numCache>
                <c:formatCode>"₹"\ #,##0.00</c:formatCode>
                <c:ptCount val="3"/>
                <c:pt idx="0">
                  <c:v>5567486511.470006</c:v>
                </c:pt>
                <c:pt idx="1">
                  <c:v>3027137648.6599979</c:v>
                </c:pt>
                <c:pt idx="2">
                  <c:v>5994238849.529994</c:v>
                </c:pt>
              </c:numCache>
            </c:numRef>
          </c:val>
          <c:extLst>
            <c:ext xmlns:c16="http://schemas.microsoft.com/office/drawing/2014/chart" uri="{C3380CC4-5D6E-409C-BE32-E72D297353CC}">
              <c16:uniqueId val="{00000006-272A-4B53-9D56-41192F8636F4}"/>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SKUs</a:t>
            </a:r>
            <a:r>
              <a:rPr lang="en-IN" baseline="0"/>
              <a:t> vs. Zonal Distrbution.</a:t>
            </a:r>
            <a:endParaRPr lang="en-IN"/>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barChart>
        <c:barDir val="bar"/>
        <c:grouping val="stacked"/>
        <c:varyColors val="0"/>
        <c:ser>
          <c:idx val="0"/>
          <c:order val="0"/>
          <c:tx>
            <c:strRef>
              <c:f>Zone!$B$1</c:f>
              <c:strCache>
                <c:ptCount val="1"/>
                <c:pt idx="0">
                  <c:v>Quantity</c:v>
                </c:pt>
              </c:strCache>
            </c:strRef>
          </c:tx>
          <c:spPr>
            <a:solidFill>
              <a:schemeClr val="accent1"/>
            </a:solidFill>
            <a:ln>
              <a:noFill/>
            </a:ln>
            <a:effectLst/>
          </c:spPr>
          <c:invertIfNegative val="0"/>
          <c:cat>
            <c:strRef>
              <c:f>Zone!$A$2:$A$7</c:f>
              <c:strCache>
                <c:ptCount val="6"/>
                <c:pt idx="0">
                  <c:v>East</c:v>
                </c:pt>
                <c:pt idx="1">
                  <c:v>North</c:v>
                </c:pt>
                <c:pt idx="2">
                  <c:v>South-1</c:v>
                </c:pt>
                <c:pt idx="3">
                  <c:v>South-2</c:v>
                </c:pt>
                <c:pt idx="4">
                  <c:v>West</c:v>
                </c:pt>
                <c:pt idx="5">
                  <c:v>Miscellaneous</c:v>
                </c:pt>
              </c:strCache>
            </c:strRef>
          </c:cat>
          <c:val>
            <c:numRef>
              <c:f>Zone!$B$2:$B$7</c:f>
              <c:numCache>
                <c:formatCode>General</c:formatCode>
                <c:ptCount val="6"/>
                <c:pt idx="0">
                  <c:v>89669553.599999994</c:v>
                </c:pt>
                <c:pt idx="1">
                  <c:v>116404372.59</c:v>
                </c:pt>
                <c:pt idx="2">
                  <c:v>229986468.97000006</c:v>
                </c:pt>
                <c:pt idx="3">
                  <c:v>308947970.07000005</c:v>
                </c:pt>
                <c:pt idx="4">
                  <c:v>186220119.66999996</c:v>
                </c:pt>
                <c:pt idx="5">
                  <c:v>81195994.929999977</c:v>
                </c:pt>
              </c:numCache>
            </c:numRef>
          </c:val>
          <c:extLst>
            <c:ext xmlns:c16="http://schemas.microsoft.com/office/drawing/2014/chart" uri="{C3380CC4-5D6E-409C-BE32-E72D297353CC}">
              <c16:uniqueId val="{00000000-3BCB-4738-8826-C285D9A74233}"/>
            </c:ext>
          </c:extLst>
        </c:ser>
        <c:dLbls>
          <c:showLegendKey val="0"/>
          <c:showVal val="0"/>
          <c:showCatName val="0"/>
          <c:showSerName val="0"/>
          <c:showPercent val="0"/>
          <c:showBubbleSize val="0"/>
        </c:dLbls>
        <c:gapWidth val="150"/>
        <c:overlap val="100"/>
        <c:axId val="799605056"/>
        <c:axId val="1320300176"/>
      </c:barChart>
      <c:catAx>
        <c:axId val="79960505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0300176"/>
        <c:crosses val="autoZero"/>
        <c:auto val="1"/>
        <c:lblAlgn val="ctr"/>
        <c:lblOffset val="100"/>
        <c:noMultiLvlLbl val="0"/>
      </c:catAx>
      <c:valAx>
        <c:axId val="132030017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99605056"/>
        <c:crosses val="autoZero"/>
        <c:crossBetween val="between"/>
        <c:dispUnits>
          <c:builtInUnit val="millions"/>
          <c:dispUnitsLbl>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dispUnitsLbl>
        </c:dispUnits>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Sheet1!$F$2:$F$56</cx:f>
        <cx:lvl ptCount="55">
          <cx:pt idx="0">Telmikind</cx:pt>
          <cx:pt idx="1">Nurokind</cx:pt>
          <cx:pt idx="2">Glimestar</cx:pt>
          <cx:pt idx="3">GLIZID</cx:pt>
          <cx:pt idx="4">Amlokind</cx:pt>
          <cx:pt idx="5">DYNAGLIPT</cx:pt>
          <cx:pt idx="6">DYDROBOON</cx:pt>
          <cx:pt idx="7">Moxikind</cx:pt>
          <cx:pt idx="8">Lipikind</cx:pt>
          <cx:pt idx="9">Gudcef</cx:pt>
          <cx:pt idx="10">CILAHEART</cx:pt>
          <cx:pt idx="11">Voglistar</cx:pt>
          <cx:pt idx="12">Pantakind</cx:pt>
          <cx:pt idx="13">NEPTAZ</cx:pt>
          <cx:pt idx="14">ASTHAKIND</cx:pt>
          <cx:pt idx="15">Monticope</cx:pt>
          <cx:pt idx="16">CANDIFORCE</cx:pt>
          <cx:pt idx="17">PANGRAF</cx:pt>
          <cx:pt idx="18">Caldikind</cx:pt>
          <cx:pt idx="19">GLIPTAGREAT</cx:pt>
          <cx:pt idx="20">STATPURE</cx:pt>
          <cx:pt idx="21">Cefakind</cx:pt>
          <cx:pt idx="22">ZUKANORM</cx:pt>
          <cx:pt idx="23">Rabekind</cx:pt>
          <cx:pt idx="24">Lipirose</cx:pt>
          <cx:pt idx="25">Olmetime</cx:pt>
          <cx:pt idx="26">MYCEPT</cx:pt>
          <cx:pt idx="27">Glykind</cx:pt>
          <cx:pt idx="28">Nitrolong</cx:pt>
          <cx:pt idx="29">Mahacef</cx:pt>
          <cx:pt idx="30">Argipreg</cx:pt>
          <cx:pt idx="31">HAIRBLESS</cx:pt>
          <cx:pt idx="32">SITCOM</cx:pt>
          <cx:pt idx="33">Bandy</cx:pt>
          <cx:pt idx="34">SGLTR</cx:pt>
          <cx:pt idx="35">D3 MUST</cx:pt>
          <cx:pt idx="36">BISOHEART</cx:pt>
          <cx:pt idx="37">Zenflox</cx:pt>
          <cx:pt idx="38">Vomikind</cx:pt>
          <cx:pt idx="39">JUSTOZA</cx:pt>
          <cx:pt idx="40">Ranidom</cx:pt>
          <cx:pt idx="41">Mankind's Health OK</cx:pt>
          <cx:pt idx="42">Placida</cx:pt>
          <cx:pt idx="43">SGLT-D</cx:pt>
          <cx:pt idx="44">OVABLESS</cx:pt>
          <cx:pt idx="45">Losakind</cx:pt>
          <cx:pt idx="46">Histafree</cx:pt>
          <cx:pt idx="47">TERBINAFORCE</cx:pt>
          <cx:pt idx="48">COMBIHALE</cx:pt>
          <cx:pt idx="49">Ketostar</cx:pt>
          <cx:pt idx="50">Dolokind</cx:pt>
          <cx:pt idx="51">DAFFY</cx:pt>
          <cx:pt idx="52">Urikind</cx:pt>
          <cx:pt idx="53">Flokind</cx:pt>
          <cx:pt idx="54">Others</cx:pt>
        </cx:lvl>
      </cx:strDim>
      <cx:numDim type="val">
        <cx:f>Sheet1!$G$2:$G$56</cx:f>
        <cx:lvl ptCount="55" formatCode="&quot;₹&quot;\ #,##0.00">
          <cx:pt idx="0">1806289627.3099992</cx:pt>
          <cx:pt idx="1">1023109315.02</cx:pt>
          <cx:pt idx="2">744859995.81000125</cx:pt>
          <cx:pt idx="3">513222840.73999983</cx:pt>
          <cx:pt idx="4">460915682.11000001</cx:pt>
          <cx:pt idx="5">367756812.89000005</cx:pt>
          <cx:pt idx="6">328180420.39999998</cx:pt>
          <cx:pt idx="7">310787451.29999995</cx:pt>
          <cx:pt idx="8">246118153.13999996</cx:pt>
          <cx:pt idx="9">237158788.29999992</cx:pt>
          <cx:pt idx="10">234840714.50999996</cx:pt>
          <cx:pt idx="11">233074659.36000007</cx:pt>
          <cx:pt idx="12">219052177.61000004</cx:pt>
          <cx:pt idx="13">213897613.01999998</cx:pt>
          <cx:pt idx="14">213713904.42999989</cx:pt>
          <cx:pt idx="15">212674170.31000003</cx:pt>
          <cx:pt idx="16">212161721.41999996</cx:pt>
          <cx:pt idx="17">202591635.48999998</cx:pt>
          <cx:pt idx="18">198741566.47999999</cx:pt>
          <cx:pt idx="19">188820754.68000001</cx:pt>
          <cx:pt idx="20">182176407.76000002</cx:pt>
          <cx:pt idx="21">178173117.55999994</cx:pt>
          <cx:pt idx="22">160961902.18000001</cx:pt>
          <cx:pt idx="23">160471701.38999999</cx:pt>
          <cx:pt idx="24">155023867.5200001</cx:pt>
          <cx:pt idx="25">148722337.88000005</cx:pt>
          <cx:pt idx="26">141247003.58000001</cx:pt>
          <cx:pt idx="27">138077262.50000006</cx:pt>
          <cx:pt idx="28">132480518.97000003</cx:pt>
          <cx:pt idx="29">125731713.99000002</cx:pt>
          <cx:pt idx="30">124409250.87999998</cx:pt>
          <cx:pt idx="31">123412850.02</cx:pt>
          <cx:pt idx="32">117858947.31000003</cx:pt>
          <cx:pt idx="33">111737808.03000005</cx:pt>
          <cx:pt idx="34">107009475.25</cx:pt>
          <cx:pt idx="35">100314660.99999999</cx:pt>
          <cx:pt idx="36">99867654.980000019</cx:pt>
          <cx:pt idx="37">99663188.000000045</cx:pt>
          <cx:pt idx="38">99592300.51000002</cx:pt>
          <cx:pt idx="39">96703966.419999927</cx:pt>
          <cx:pt idx="40">87531741.310000002</cx:pt>
          <cx:pt idx="41">86570109.389999986</cx:pt>
          <cx:pt idx="42">84492750.969999999</cx:pt>
          <cx:pt idx="43">83859290.420000017</cx:pt>
          <cx:pt idx="44">77468257.060000002</cx:pt>
          <cx:pt idx="45">76971123.23999998</cx:pt>
          <cx:pt idx="46">72003474.430000082</cx:pt>
          <cx:pt idx="47">71485717.529999986</cx:pt>
          <cx:pt idx="48">69213518.480000004</cx:pt>
          <cx:pt idx="49">65243779.650000006</cx:pt>
          <cx:pt idx="50">64353209.240000017</cx:pt>
          <cx:pt idx="51">61370282.040000014</cx:pt>
          <cx:pt idx="52">59743826.500000015</cx:pt>
          <cx:pt idx="53">58058337.770000011</cx:pt>
          <cx:pt idx="54">2798893651.5699992</cx:pt>
        </cx:lvl>
      </cx:numDim>
    </cx:data>
  </cx:chartData>
  <cx:chart>
    <cx:title pos="t" align="ctr" overlay="0"/>
    <cx:plotArea>
      <cx:plotAreaRegion>
        <cx:series layoutId="clusteredColumn" uniqueId="{A93849E2-DB35-4354-9ECE-A4A56FCEE562}">
          <cx:tx>
            <cx:txData>
              <cx:f>Sheet1!$G$1</cx:f>
              <cx:v>Revenue</cx:v>
            </cx:txData>
          </cx:tx>
          <cx:dataId val="0"/>
          <cx:layoutPr>
            <cx:aggregation/>
          </cx:layoutPr>
          <cx:axisId val="1"/>
        </cx:series>
        <cx:series layoutId="paretoLine" ownerIdx="0" uniqueId="{E1ED6F1A-6BAB-4B76-8743-D0591BF9BABD}">
          <cx:axisId val="2"/>
        </cx:series>
      </cx:plotAreaRegion>
      <cx:axis id="0">
        <cx:catScaling gapWidth="0"/>
        <cx:tickLabels/>
      </cx:axis>
      <cx:axis id="1">
        <cx:valScaling/>
        <cx:units unit="billions"/>
        <cx:majorGridlines/>
        <cx:tickLabels/>
        <cx:spPr>
          <a:ln>
            <a:solidFill>
              <a:schemeClr val="accent1">
                <a:alpha val="90000"/>
              </a:schemeClr>
            </a:solidFill>
          </a:ln>
        </cx:spPr>
      </cx:axis>
      <cx:axis id="2">
        <cx:valScaling max="1" min="0"/>
        <cx:units unit="percentage"/>
        <cx:tickLabels/>
      </cx:axis>
    </cx:plotArea>
  </cx:chart>
  <cx:spPr>
    <a:solidFill>
      <a:schemeClr val="accent5">
        <a:lumMod val="75000"/>
      </a:schemeClr>
    </a:solidFill>
  </cx:spPr>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'Account Analysis'!$A$2:$A$11</cx:f>
        <cx:lvl ptCount="10">
          <cx:pt idx="0">ASCENT</cx:pt>
          <cx:pt idx="1">MEDPLUS</cx:pt>
          <cx:pt idx="2">APPOLO</cx:pt>
          <cx:pt idx="3">ENTERO</cx:pt>
          <cx:pt idx="4">SASTASUN</cx:pt>
          <cx:pt idx="5">TATA 1MG</cx:pt>
          <cx:pt idx="6">PHARMEASY</cx:pt>
          <cx:pt idx="7">WELLNESS</cx:pt>
          <cx:pt idx="8">NETMED</cx:pt>
          <cx:pt idx="9">OTHERS</cx:pt>
        </cx:lvl>
      </cx:strDim>
      <cx:numDim type="val">
        <cx:f>'Account Analysis'!$B$2:$B$11</cx:f>
        <cx:lvl ptCount="10" formatCode="&quot;₹&quot;\ #,##0.00">
          <cx:pt idx="0">3315523000.2700047</cx:pt>
          <cx:pt idx="1">2661327603.170001</cx:pt>
          <cx:pt idx="2">2407550968.0900025</cx:pt>
          <cx:pt idx="3">2089114694.9000013</cx:pt>
          <cx:pt idx="4">1030525588.8900008</cx:pt>
          <cx:pt idx="5">725637349.72000051</cx:pt>
          <cx:pt idx="6">613195867.34000063</cx:pt>
          <cx:pt idx="7">436705751.64000028</cx:pt>
          <cx:pt idx="8">370755648.7500003</cx:pt>
          <cx:pt idx="9">938526536.88999999</cx:pt>
        </cx:lvl>
      </cx:numDim>
    </cx:data>
  </cx:chartData>
  <cx:chart>
    <cx:title pos="t" align="ctr" overlay="0">
      <cx:tx>
        <cx:rich>
          <a:bodyPr spcFirstLastPara="1" vertOverflow="ellipsis" horzOverflow="overflow" wrap="square" lIns="0" tIns="0" rIns="0" bIns="0" anchor="ctr" anchorCtr="1"/>
          <a:lstStyle/>
          <a:p>
            <a:pPr algn="ctr" rtl="0">
              <a:defRPr/>
            </a:pPr>
            <a:r>
              <a:rPr lang="en-US" sz="1400" b="0" i="0" u="none" strike="noStrike" baseline="0" dirty="0">
                <a:solidFill>
                  <a:prstClr val="black">
                    <a:lumMod val="65000"/>
                    <a:lumOff val="35000"/>
                  </a:prstClr>
                </a:solidFill>
                <a:latin typeface="Calibri Light" panose="020F0302020204030204"/>
              </a:rPr>
              <a:t>Product Group Pareto Chart</a:t>
            </a:r>
          </a:p>
          <a:p>
            <a:pPr algn="ctr" rtl="0">
              <a:defRPr/>
            </a:pPr>
            <a:endParaRPr lang="en-US" sz="1400" b="0" i="0" u="none" strike="noStrike" baseline="0" dirty="0">
              <a:solidFill>
                <a:prstClr val="black">
                  <a:lumMod val="65000"/>
                  <a:lumOff val="35000"/>
                </a:prstClr>
              </a:solidFill>
              <a:latin typeface="Calibri Light" panose="020F0302020204030204"/>
            </a:endParaRPr>
          </a:p>
        </cx:rich>
      </cx:tx>
    </cx:title>
    <cx:plotArea>
      <cx:plotAreaRegion>
        <cx:series layoutId="clusteredColumn" uniqueId="{035BFEDB-4C9F-4CA1-B3BF-524BD5F7441A}">
          <cx:tx>
            <cx:txData>
              <cx:f>'Account Analysis'!$B$1</cx:f>
              <cx:v>Total Revenue</cx:v>
            </cx:txData>
          </cx:tx>
          <cx:dataId val="0"/>
          <cx:layoutPr>
            <cx:aggregation/>
          </cx:layoutPr>
          <cx:axisId val="1"/>
        </cx:series>
        <cx:series layoutId="paretoLine" ownerIdx="0" uniqueId="{34DA700E-4B3C-42D4-89A6-8001AB487479}">
          <cx:axisId val="2"/>
        </cx:series>
      </cx:plotAreaRegion>
      <cx:axis id="0">
        <cx:catScaling gapWidth="0"/>
        <cx:title>
          <cx:tx>
            <cx:txData>
              <cx:v>Product Group</cx:v>
            </cx:txData>
          </cx:tx>
          <cx:txPr>
            <a:bodyPr spcFirstLastPara="1" vertOverflow="ellipsis" horzOverflow="overflow" wrap="square" lIns="0" tIns="0" rIns="0" bIns="0" anchor="ctr" anchorCtr="1"/>
            <a:lstStyle/>
            <a:p>
              <a:pPr algn="ctr" rtl="0">
                <a:defRPr/>
              </a:pPr>
              <a:r>
                <a:rPr lang="en-US" sz="900" b="0" i="0" u="none" strike="noStrike" baseline="0" dirty="0">
                  <a:solidFill>
                    <a:prstClr val="black">
                      <a:lumMod val="65000"/>
                      <a:lumOff val="35000"/>
                    </a:prstClr>
                  </a:solidFill>
                  <a:latin typeface="Calibri Light" panose="020F0302020204030204"/>
                </a:rPr>
                <a:t>Product Group</a:t>
              </a:r>
            </a:p>
          </cx:txPr>
        </cx:title>
        <cx:tickLabels/>
      </cx:axis>
      <cx:axis id="1">
        <cx:valScaling/>
        <cx:title>
          <cx:tx>
            <cx:txData>
              <cx:v>Revenue  (In Billions)</cx:v>
            </cx:txData>
          </cx:tx>
          <cx:txPr>
            <a:bodyPr spcFirstLastPara="1" vertOverflow="ellipsis" horzOverflow="overflow" wrap="square" lIns="0" tIns="0" rIns="0" bIns="0" anchor="ctr" anchorCtr="1"/>
            <a:lstStyle/>
            <a:p>
              <a:pPr algn="ctr" rtl="0">
                <a:defRPr/>
              </a:pPr>
              <a:r>
                <a:rPr lang="en-US" sz="900" b="0" i="0" u="none" strike="noStrike" baseline="0" dirty="0">
                  <a:solidFill>
                    <a:prstClr val="black">
                      <a:lumMod val="65000"/>
                      <a:lumOff val="35000"/>
                    </a:prstClr>
                  </a:solidFill>
                  <a:latin typeface="Calibri Light" panose="020F0302020204030204"/>
                </a:rPr>
                <a:t>Revenue  (In Billions)</a:t>
              </a:r>
            </a:p>
          </cx:txPr>
        </cx:title>
        <cx:units unit="billions"/>
        <cx:majorGridlines/>
        <cx:tickLabels/>
      </cx:axis>
      <cx:axis id="2">
        <cx:valScaling max="1" min="0"/>
        <cx:title>
          <cx:tx>
            <cx:txData>
              <cx:v>Achieved </cx:v>
            </cx:txData>
          </cx:tx>
          <cx:txPr>
            <a:bodyPr spcFirstLastPara="1" vertOverflow="ellipsis" horzOverflow="overflow" wrap="square" lIns="0" tIns="0" rIns="0" bIns="0" anchor="ctr" anchorCtr="1"/>
            <a:lstStyle/>
            <a:p>
              <a:pPr algn="ctr" rtl="0">
                <a:defRPr/>
              </a:pPr>
              <a:r>
                <a:rPr lang="en-US" sz="900" b="0" i="0" u="none" strike="noStrike" baseline="0" dirty="0">
                  <a:solidFill>
                    <a:prstClr val="black">
                      <a:lumMod val="65000"/>
                      <a:lumOff val="35000"/>
                    </a:prstClr>
                  </a:solidFill>
                  <a:latin typeface="Calibri Light" panose="020F0302020204030204"/>
                </a:rPr>
                <a:t>Achieved </a:t>
              </a:r>
            </a:p>
          </cx:txPr>
        </cx:title>
        <cx:units unit="percentage"/>
        <cx:tickLabels/>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71">
  <cs:axisTitle>
    <cs:lnRef idx="0"/>
    <cs:fillRef idx="0"/>
    <cs:effectRef idx="0"/>
    <cs:fontRef idx="minor">
      <a:schemeClr val="lt1"/>
    </cs:fontRef>
    <cs:defRPr sz="900"/>
  </cs:axisTitle>
  <cs:categoryAxis>
    <cs:lnRef idx="0">
      <cs:styleClr val="0"/>
    </cs:lnRef>
    <cs:fillRef idx="0"/>
    <cs:effectRef idx="0"/>
    <cs:fontRef idx="minor">
      <a:schemeClr val="lt1"/>
    </cs:fontRef>
    <cs:spPr>
      <a:ln w="3175" cap="flat" cmpd="sng" algn="ctr">
        <a:solidFill>
          <a:schemeClr val="phClr">
            <a:lumMod val="60000"/>
            <a:lumOff val="40000"/>
          </a:schemeClr>
        </a:solidFill>
        <a:round/>
      </a:ln>
    </cs:spPr>
    <cs:defRPr sz="800"/>
    <cs:bodyPr/>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000"/>
  </cs:chartArea>
  <cs:dataLabel>
    <cs:lnRef idx="0"/>
    <cs:fillRef idx="0">
      <cs:styleClr val="auto"/>
    </cs:fillRef>
    <cs:effectRef idx="0"/>
    <cs:fontRef idx="minor">
      <a:schemeClr val="dk1"/>
    </cs:fontRef>
    <cs:spPr>
      <a:solidFill>
        <a:schemeClr val="phClr">
          <a:alpha val="70000"/>
        </a:schemeClr>
      </a:solidFill>
    </cs:spPr>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a:ln w="9525">
        <a:solidFill>
          <a:schemeClr val="tx1"/>
        </a:solidFill>
      </a:ln>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dk1"/>
    </cs:fontRef>
    <cs:spPr>
      <a:ln w="2857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900"/>
  </cs:dataTable>
  <cs:downBar>
    <cs:lnRef idx="0"/>
    <cs:fillRef idx="0"/>
    <cs:effectRef idx="0"/>
    <cs:fontRef idx="minor">
      <a:schemeClr val="dk1"/>
    </cs:fontRef>
    <cs:spPr>
      <a:solidFill>
        <a:schemeClr val="dk1"/>
      </a:solidFill>
    </cs:spPr>
  </cs:downBar>
  <cs:dropLine>
    <cs:lnRef idx="0"/>
    <cs:fillRef idx="0"/>
    <cs:effectRef idx="0"/>
    <cs:fontRef idx="minor">
      <a:schemeClr val="tx1"/>
    </cs:fontRef>
    <cs:spPr>
      <a:ln w="9525">
        <a:solidFill>
          <a:schemeClr val="lt1"/>
        </a:solidFill>
        <a:prstDash val="dash"/>
      </a:ln>
    </cs:spPr>
  </cs:dropLine>
  <cs:errorBar>
    <cs:lnRef idx="0"/>
    <cs:fillRef idx="0"/>
    <cs:effectRef idx="0"/>
    <cs:fontRef idx="minor">
      <a:schemeClr val="tx1"/>
    </cs:fontRef>
    <cs:spPr>
      <a:ln w="9525" cap="flat" cmpd="sng" algn="ctr">
        <a:solidFill>
          <a:schemeClr val="lt1"/>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lt1">
            <a:alpha val="25000"/>
          </a:schemeClr>
        </a:solidFill>
        <a:round/>
      </a:ln>
    </cs:spPr>
  </cs:gridlineMajor>
  <cs:gridlineMinor>
    <cs:lnRef idx="0"/>
    <cs:fillRef idx="0"/>
    <cs:effectRef idx="0"/>
    <cs:fontRef idx="minor">
      <a:schemeClr val="dk1"/>
    </cs:fontRef>
    <cs:spPr>
      <a:ln>
        <a:solidFill>
          <a:schemeClr val="lt1">
            <a:alpha val="25000"/>
            <a:lumOff val="10000"/>
          </a:schemeClr>
        </a:solidFill>
      </a:ln>
    </cs:spPr>
  </cs:gridlineMinor>
  <cs:hiLoLine>
    <cs:lnRef idx="0"/>
    <cs:fillRef idx="0"/>
    <cs:effectRef idx="0"/>
    <cs:fontRef idx="minor">
      <a:schemeClr val="tx1"/>
    </cs:fontRef>
    <cs:spPr>
      <a:ln w="9525">
        <a:solidFill>
          <a:schemeClr val="lt1"/>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cs:fontRef>
    <cs:defRPr sz="9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900"/>
    <cs:bodyPr/>
  </cs:seriesAxis>
  <cs:seriesLine>
    <cs:lnRef idx="0"/>
    <cs:fillRef idx="0"/>
    <cs:effectRef idx="0"/>
    <cs:fontRef idx="minor">
      <a:schemeClr val="lt1"/>
    </cs:fontRef>
    <cs:spPr>
      <a:ln w="9525" cap="flat">
        <a:solidFill>
          <a:srgbClr val="D9D9D9"/>
        </a:solidFill>
        <a:round/>
      </a:ln>
    </cs:spPr>
  </cs:seriesLine>
  <cs:title>
    <cs:lnRef idx="0"/>
    <cs:fillRef idx="0"/>
    <cs:effectRef idx="0"/>
    <cs:fontRef idx="minor">
      <a:schemeClr val="lt1"/>
    </cs:fontRef>
    <cs:defRPr sz="1500" b="1" cap="all" spc="100"/>
    <cs:bodyPr/>
  </cs:title>
  <cs:trendline>
    <cs:lnRef idx="0"/>
    <cs:fillRef idx="0"/>
    <cs:effectRef idx="0"/>
    <cs:fontRef idx="minor">
      <a:schemeClr val="dk1"/>
    </cs:fontRef>
    <cs:spPr>
      <a:ln w="19050" cap="rnd">
        <a:solidFill>
          <a:schemeClr val="lt1"/>
        </a:solidFill>
        <a:prstDash val="sysDash"/>
      </a:ln>
    </cs:spPr>
  </cs:trendline>
  <cs:trendlineLabel>
    <cs:lnRef idx="0"/>
    <cs:fillRef idx="0"/>
    <cs:effectRef idx="0"/>
    <cs:fontRef idx="minor">
      <a:schemeClr val="lt1"/>
    </cs:fontRef>
    <cs:defRPr sz="900"/>
  </cs:trendlineLabel>
  <cs:upBar>
    <cs:lnRef idx="0"/>
    <cs:fillRef idx="0"/>
    <cs:effectRef idx="0"/>
    <cs:fontRef idx="minor">
      <a:schemeClr val="dk1"/>
    </cs:fontRef>
    <cs:spPr>
      <a:solidFill>
        <a:schemeClr val="lt1"/>
      </a:solidFill>
    </cs:spPr>
  </cs:upBar>
  <cs:valueAxis>
    <cs:lnRef idx="0"/>
    <cs:fillRef idx="0"/>
    <cs:effectRef idx="0"/>
    <cs:fontRef idx="minor">
      <a:schemeClr val="lt1"/>
    </cs:fontRef>
    <cs:defRPr sz="900"/>
    <cs:bodyPr/>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5.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BE1596-D4B8-4C64-8744-C63CE52EAF24}" type="datetimeFigureOut">
              <a:rPr lang="en-IN" smtClean="0"/>
              <a:t>14-10-2025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41766A-53B1-47A9-8ED9-F7C77C1AA558}" type="slidenum">
              <a:rPr lang="en-IN" smtClean="0"/>
              <a:t>‹#›</a:t>
            </a:fld>
            <a:endParaRPr lang="en-IN"/>
          </a:p>
        </p:txBody>
      </p:sp>
    </p:spTree>
    <p:extLst>
      <p:ext uri="{BB962C8B-B14F-4D97-AF65-F5344CB8AC3E}">
        <p14:creationId xmlns:p14="http://schemas.microsoft.com/office/powerpoint/2010/main" val="2503604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B41766A-53B1-47A9-8ED9-F7C77C1AA558}" type="slidenum">
              <a:rPr lang="en-IN" smtClean="0"/>
              <a:t>4</a:t>
            </a:fld>
            <a:endParaRPr lang="en-IN"/>
          </a:p>
        </p:txBody>
      </p:sp>
    </p:spTree>
    <p:extLst>
      <p:ext uri="{BB962C8B-B14F-4D97-AF65-F5344CB8AC3E}">
        <p14:creationId xmlns:p14="http://schemas.microsoft.com/office/powerpoint/2010/main" val="14057406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4CC9A611-E953-4366-B2DA-D6CE90DA17E7}" type="datetime1">
              <a:rPr lang="en-IN" smtClean="0"/>
              <a:t>14-10-2025</a:t>
            </a:fld>
            <a:endParaRPr lang="en-IN"/>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IN"/>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A08B912B-F44E-45E7-BD87-43B333FB448B}" type="slidenum">
              <a:rPr lang="en-IN" smtClean="0"/>
              <a:t>‹#›</a:t>
            </a:fld>
            <a:endParaRPr lang="en-IN"/>
          </a:p>
        </p:txBody>
      </p:sp>
    </p:spTree>
    <p:extLst>
      <p:ext uri="{BB962C8B-B14F-4D97-AF65-F5344CB8AC3E}">
        <p14:creationId xmlns:p14="http://schemas.microsoft.com/office/powerpoint/2010/main" val="2377171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C91C6C-A1B6-4D28-A5F7-33EC597A0026}" type="datetime1">
              <a:rPr lang="en-IN" smtClean="0"/>
              <a:t>14-10-2025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8B912B-F44E-45E7-BD87-43B333FB448B}" type="slidenum">
              <a:rPr lang="en-IN" smtClean="0"/>
              <a:t>‹#›</a:t>
            </a:fld>
            <a:endParaRPr lang="en-IN"/>
          </a:p>
        </p:txBody>
      </p:sp>
    </p:spTree>
    <p:extLst>
      <p:ext uri="{BB962C8B-B14F-4D97-AF65-F5344CB8AC3E}">
        <p14:creationId xmlns:p14="http://schemas.microsoft.com/office/powerpoint/2010/main" val="2432698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F23209-0EFA-42D4-9DDE-E98F5B7D3A80}" type="datetime1">
              <a:rPr lang="en-IN" smtClean="0"/>
              <a:t>14-10-2025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8B912B-F44E-45E7-BD87-43B333FB448B}" type="slidenum">
              <a:rPr lang="en-IN" smtClean="0"/>
              <a:t>‹#›</a:t>
            </a:fld>
            <a:endParaRPr lang="en-IN"/>
          </a:p>
        </p:txBody>
      </p:sp>
    </p:spTree>
    <p:extLst>
      <p:ext uri="{BB962C8B-B14F-4D97-AF65-F5344CB8AC3E}">
        <p14:creationId xmlns:p14="http://schemas.microsoft.com/office/powerpoint/2010/main" val="353381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64E56BD-E04C-4BA4-ABD8-140B3917A19E}" type="datetime1">
              <a:rPr lang="en-IN" smtClean="0"/>
              <a:t>14-10-2025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08B912B-F44E-45E7-BD87-43B333FB448B}" type="slidenum">
              <a:rPr lang="en-IN" smtClean="0"/>
              <a:t>‹#›</a:t>
            </a:fld>
            <a:endParaRPr lang="en-IN"/>
          </a:p>
        </p:txBody>
      </p:sp>
    </p:spTree>
    <p:extLst>
      <p:ext uri="{BB962C8B-B14F-4D97-AF65-F5344CB8AC3E}">
        <p14:creationId xmlns:p14="http://schemas.microsoft.com/office/powerpoint/2010/main" val="3001012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B5E3103-75A7-484D-A769-8DC57E3D11FB}" type="datetime1">
              <a:rPr lang="en-IN" smtClean="0"/>
              <a:t>14-10-2025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08B912B-F44E-45E7-BD87-43B333FB448B}" type="slidenum">
              <a:rPr lang="en-IN" smtClean="0"/>
              <a:t>‹#›</a:t>
            </a:fld>
            <a:endParaRPr lang="en-IN"/>
          </a:p>
        </p:txBody>
      </p:sp>
    </p:spTree>
    <p:extLst>
      <p:ext uri="{BB962C8B-B14F-4D97-AF65-F5344CB8AC3E}">
        <p14:creationId xmlns:p14="http://schemas.microsoft.com/office/powerpoint/2010/main" val="2658341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B91FC1F-A4F9-4724-8E96-9E8E00134EDF}" type="datetime1">
              <a:rPr lang="en-IN" smtClean="0"/>
              <a:t>14-10-2025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08B912B-F44E-45E7-BD87-43B333FB448B}" type="slidenum">
              <a:rPr lang="en-IN" smtClean="0"/>
              <a:t>‹#›</a:t>
            </a:fld>
            <a:endParaRPr lang="en-IN"/>
          </a:p>
        </p:txBody>
      </p:sp>
    </p:spTree>
    <p:extLst>
      <p:ext uri="{BB962C8B-B14F-4D97-AF65-F5344CB8AC3E}">
        <p14:creationId xmlns:p14="http://schemas.microsoft.com/office/powerpoint/2010/main" val="14650649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6F3043-DE0D-4A4F-92D4-B1E31853446D}" type="datetime1">
              <a:rPr lang="en-IN" smtClean="0"/>
              <a:t>14-10-2025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08B912B-F44E-45E7-BD87-43B333FB448B}" type="slidenum">
              <a:rPr lang="en-IN" smtClean="0"/>
              <a:t>‹#›</a:t>
            </a:fld>
            <a:endParaRPr lang="en-IN"/>
          </a:p>
        </p:txBody>
      </p:sp>
    </p:spTree>
    <p:extLst>
      <p:ext uri="{BB962C8B-B14F-4D97-AF65-F5344CB8AC3E}">
        <p14:creationId xmlns:p14="http://schemas.microsoft.com/office/powerpoint/2010/main" val="2616579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6F0A335F-1EC7-4F17-9B4E-471A09EA5708}" type="datetime1">
              <a:rPr lang="en-IN" smtClean="0"/>
              <a:t>14-10-2025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A08B912B-F44E-45E7-BD87-43B333FB448B}" type="slidenum">
              <a:rPr lang="en-IN" smtClean="0"/>
              <a:t>‹#›</a:t>
            </a:fld>
            <a:endParaRPr lang="en-IN"/>
          </a:p>
        </p:txBody>
      </p:sp>
    </p:spTree>
    <p:extLst>
      <p:ext uri="{BB962C8B-B14F-4D97-AF65-F5344CB8AC3E}">
        <p14:creationId xmlns:p14="http://schemas.microsoft.com/office/powerpoint/2010/main" val="10662740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131D29E0-57C9-4B61-B8F9-BA7F2A2E6DC4}" type="datetime1">
              <a:rPr lang="en-IN" smtClean="0"/>
              <a:t>14-10-2025</a:t>
            </a:fld>
            <a:endParaRPr lang="en-IN"/>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IN"/>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A08B912B-F44E-45E7-BD87-43B333FB448B}" type="slidenum">
              <a:rPr lang="en-IN" smtClean="0"/>
              <a:t>‹#›</a:t>
            </a:fld>
            <a:endParaRPr lang="en-IN"/>
          </a:p>
        </p:txBody>
      </p:sp>
    </p:spTree>
    <p:extLst>
      <p:ext uri="{BB962C8B-B14F-4D97-AF65-F5344CB8AC3E}">
        <p14:creationId xmlns:p14="http://schemas.microsoft.com/office/powerpoint/2010/main" val="2263548519"/>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8C8836-BC21-48D8-B2E4-99799360593A}" type="datetime1">
              <a:rPr lang="en-IN" smtClean="0"/>
              <a:t>14-10-2025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8B912B-F44E-45E7-BD87-43B333FB448B}" type="slidenum">
              <a:rPr lang="en-IN" smtClean="0"/>
              <a:t>‹#›</a:t>
            </a:fld>
            <a:endParaRPr lang="en-IN"/>
          </a:p>
        </p:txBody>
      </p:sp>
    </p:spTree>
    <p:extLst>
      <p:ext uri="{BB962C8B-B14F-4D97-AF65-F5344CB8AC3E}">
        <p14:creationId xmlns:p14="http://schemas.microsoft.com/office/powerpoint/2010/main" val="302561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FC5579-D770-4EEE-8E5D-3305DCE2F5C8}" type="datetime1">
              <a:rPr lang="en-IN" smtClean="0"/>
              <a:t>14-10-2025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8B912B-F44E-45E7-BD87-43B333FB448B}" type="slidenum">
              <a:rPr lang="en-IN" smtClean="0"/>
              <a:t>‹#›</a:t>
            </a:fld>
            <a:endParaRPr lang="en-IN"/>
          </a:p>
        </p:txBody>
      </p:sp>
    </p:spTree>
    <p:extLst>
      <p:ext uri="{BB962C8B-B14F-4D97-AF65-F5344CB8AC3E}">
        <p14:creationId xmlns:p14="http://schemas.microsoft.com/office/powerpoint/2010/main" val="5695891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FBA680E3-2DA6-475F-83F6-52E4FC412AB5}" type="datetime1">
              <a:rPr lang="en-IN" smtClean="0"/>
              <a:t>14-10-2025</a:t>
            </a:fld>
            <a:endParaRPr lang="en-IN"/>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IN"/>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A08B912B-F44E-45E7-BD87-43B333FB448B}" type="slidenum">
              <a:rPr lang="en-IN" smtClean="0"/>
              <a:t>‹#›</a:t>
            </a:fld>
            <a:endParaRPr lang="en-IN"/>
          </a:p>
        </p:txBody>
      </p:sp>
    </p:spTree>
    <p:extLst>
      <p:ext uri="{BB962C8B-B14F-4D97-AF65-F5344CB8AC3E}">
        <p14:creationId xmlns:p14="http://schemas.microsoft.com/office/powerpoint/2010/main" val="332580369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hf sldNum="0" hdr="0" ftr="0" dt="0"/>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4/relationships/chartEx" Target="../charts/chartEx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4/relationships/chartEx" Target="../charts/chartEx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3E64F-DBFF-601E-A0AC-162B23B3EF07}"/>
              </a:ext>
            </a:extLst>
          </p:cNvPr>
          <p:cNvSpPr>
            <a:spLocks noGrp="1"/>
          </p:cNvSpPr>
          <p:nvPr>
            <p:ph type="ctrTitle"/>
          </p:nvPr>
        </p:nvSpPr>
        <p:spPr/>
        <p:txBody>
          <a:bodyPr/>
          <a:lstStyle/>
          <a:p>
            <a:r>
              <a:rPr lang="en-IN" dirty="0"/>
              <a:t>Commercial Performance Analysis</a:t>
            </a:r>
          </a:p>
        </p:txBody>
      </p:sp>
      <p:sp>
        <p:nvSpPr>
          <p:cNvPr id="3" name="Subtitle 2">
            <a:extLst>
              <a:ext uri="{FF2B5EF4-FFF2-40B4-BE49-F238E27FC236}">
                <a16:creationId xmlns:a16="http://schemas.microsoft.com/office/drawing/2014/main" id="{9CCB9FAD-FF97-9411-504C-32538A82C5AE}"/>
              </a:ext>
            </a:extLst>
          </p:cNvPr>
          <p:cNvSpPr>
            <a:spLocks noGrp="1"/>
          </p:cNvSpPr>
          <p:nvPr>
            <p:ph type="subTitle" idx="1"/>
          </p:nvPr>
        </p:nvSpPr>
        <p:spPr>
          <a:xfrm>
            <a:off x="806196" y="4123267"/>
            <a:ext cx="9144000" cy="801150"/>
          </a:xfrm>
        </p:spPr>
        <p:txBody>
          <a:bodyPr>
            <a:normAutofit fontScale="92500" lnSpcReduction="10000"/>
          </a:bodyPr>
          <a:lstStyle/>
          <a:p>
            <a:r>
              <a:rPr lang="en-US" dirty="0"/>
              <a:t>Identifying Growth Levers Across Products, Channels, and Accounts</a:t>
            </a:r>
            <a:endParaRPr lang="en-IN" dirty="0"/>
          </a:p>
        </p:txBody>
      </p:sp>
      <p:sp>
        <p:nvSpPr>
          <p:cNvPr id="4" name="TextBox 3">
            <a:extLst>
              <a:ext uri="{FF2B5EF4-FFF2-40B4-BE49-F238E27FC236}">
                <a16:creationId xmlns:a16="http://schemas.microsoft.com/office/drawing/2014/main" id="{2576446C-B8C4-5B5E-D4BA-4A7343A6603E}"/>
              </a:ext>
            </a:extLst>
          </p:cNvPr>
          <p:cNvSpPr txBox="1"/>
          <p:nvPr/>
        </p:nvSpPr>
        <p:spPr>
          <a:xfrm>
            <a:off x="9447723" y="6302327"/>
            <a:ext cx="2744277" cy="369332"/>
          </a:xfrm>
          <a:prstGeom prst="rect">
            <a:avLst/>
          </a:prstGeom>
          <a:noFill/>
        </p:spPr>
        <p:txBody>
          <a:bodyPr wrap="none" rtlCol="0">
            <a:spAutoFit/>
          </a:bodyPr>
          <a:lstStyle/>
          <a:p>
            <a:r>
              <a:rPr lang="en-US" dirty="0"/>
              <a:t>Prepared By-Samina Pacha.</a:t>
            </a:r>
            <a:endParaRPr lang="en-IN" dirty="0"/>
          </a:p>
        </p:txBody>
      </p:sp>
    </p:spTree>
    <p:extLst>
      <p:ext uri="{BB962C8B-B14F-4D97-AF65-F5344CB8AC3E}">
        <p14:creationId xmlns:p14="http://schemas.microsoft.com/office/powerpoint/2010/main" val="24476209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50A73-CEE5-C8EE-0E54-8712449F849C}"/>
              </a:ext>
            </a:extLst>
          </p:cNvPr>
          <p:cNvSpPr>
            <a:spLocks noGrp="1"/>
          </p:cNvSpPr>
          <p:nvPr>
            <p:ph type="title"/>
          </p:nvPr>
        </p:nvSpPr>
        <p:spPr>
          <a:xfrm>
            <a:off x="838200" y="1"/>
            <a:ext cx="10515600" cy="1111347"/>
          </a:xfrm>
        </p:spPr>
        <p:txBody>
          <a:bodyPr>
            <a:normAutofit/>
          </a:bodyPr>
          <a:lstStyle/>
          <a:p>
            <a:pPr algn="ctr"/>
            <a:r>
              <a:rPr lang="en-IN" sz="4400" dirty="0"/>
              <a:t>Objective &amp; Challenges Addressed</a:t>
            </a:r>
          </a:p>
        </p:txBody>
      </p:sp>
      <p:sp>
        <p:nvSpPr>
          <p:cNvPr id="3" name="Content Placeholder 2">
            <a:extLst>
              <a:ext uri="{FF2B5EF4-FFF2-40B4-BE49-F238E27FC236}">
                <a16:creationId xmlns:a16="http://schemas.microsoft.com/office/drawing/2014/main" id="{25E34B3A-D151-DFDF-E194-030CB545AB98}"/>
              </a:ext>
            </a:extLst>
          </p:cNvPr>
          <p:cNvSpPr>
            <a:spLocks noGrp="1"/>
          </p:cNvSpPr>
          <p:nvPr>
            <p:ph idx="1"/>
          </p:nvPr>
        </p:nvSpPr>
        <p:spPr>
          <a:xfrm>
            <a:off x="196948" y="1448972"/>
            <a:ext cx="11873132" cy="5148775"/>
          </a:xfrm>
        </p:spPr>
        <p:txBody>
          <a:bodyPr>
            <a:normAutofit/>
          </a:bodyPr>
          <a:lstStyle/>
          <a:p>
            <a:r>
              <a:rPr lang="en-US" b="1" dirty="0"/>
              <a:t>Objective:</a:t>
            </a:r>
          </a:p>
          <a:p>
            <a:pPr marL="1028700" lvl="1" indent="-571500">
              <a:buFont typeface="+mj-lt"/>
              <a:buAutoNum type="romanLcPeriod"/>
            </a:pPr>
            <a:r>
              <a:rPr lang="en-US" dirty="0"/>
              <a:t>Diagnose true revenue drivers </a:t>
            </a:r>
          </a:p>
          <a:p>
            <a:pPr marL="1028700" lvl="1" indent="-571500">
              <a:buFont typeface="+mj-lt"/>
              <a:buAutoNum type="romanLcPeriod"/>
            </a:pPr>
            <a:r>
              <a:rPr lang="en-US" dirty="0"/>
              <a:t>identify the highest-ROI levers to reignite growth.</a:t>
            </a:r>
          </a:p>
          <a:p>
            <a:pPr marL="0" indent="0">
              <a:buNone/>
            </a:pPr>
            <a:endParaRPr lang="en-US" dirty="0"/>
          </a:p>
          <a:p>
            <a:r>
              <a:rPr lang="en-US" b="1" dirty="0"/>
              <a:t>Key Business Challenge:</a:t>
            </a:r>
            <a:endParaRPr lang="en-US" dirty="0"/>
          </a:p>
          <a:p>
            <a:pPr marL="1028700" lvl="1" indent="-571500">
              <a:buFont typeface="+mj-lt"/>
              <a:buAutoNum type="romanLcPeriod"/>
            </a:pPr>
            <a:r>
              <a:rPr lang="en-US" dirty="0"/>
              <a:t>Plateauing topline performance</a:t>
            </a:r>
          </a:p>
          <a:p>
            <a:pPr marL="1028700" lvl="1" indent="-571500">
              <a:buFont typeface="+mj-lt"/>
              <a:buAutoNum type="romanLcPeriod"/>
            </a:pPr>
            <a:r>
              <a:rPr lang="en-US" dirty="0"/>
              <a:t>Uneven growth across regions, SKUs, and channels</a:t>
            </a:r>
          </a:p>
          <a:p>
            <a:endParaRPr lang="en-US" dirty="0"/>
          </a:p>
          <a:p>
            <a:endParaRPr lang="en-IN" dirty="0"/>
          </a:p>
        </p:txBody>
      </p:sp>
    </p:spTree>
    <p:extLst>
      <p:ext uri="{BB962C8B-B14F-4D97-AF65-F5344CB8AC3E}">
        <p14:creationId xmlns:p14="http://schemas.microsoft.com/office/powerpoint/2010/main" val="8548678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CEFD6-F8E3-4C27-2B24-9DD610A3B1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8A330B-E7CF-96F0-B2BE-7EBA9DB578BF}"/>
              </a:ext>
            </a:extLst>
          </p:cNvPr>
          <p:cNvSpPr>
            <a:spLocks noGrp="1"/>
          </p:cNvSpPr>
          <p:nvPr>
            <p:ph type="title"/>
          </p:nvPr>
        </p:nvSpPr>
        <p:spPr>
          <a:xfrm>
            <a:off x="838200" y="0"/>
            <a:ext cx="10515600" cy="1139483"/>
          </a:xfrm>
        </p:spPr>
        <p:txBody>
          <a:bodyPr>
            <a:normAutofit/>
          </a:bodyPr>
          <a:lstStyle/>
          <a:p>
            <a:pPr algn="ctr"/>
            <a:r>
              <a:rPr lang="en-IN" sz="4400" dirty="0"/>
              <a:t>Approach Taken</a:t>
            </a:r>
          </a:p>
        </p:txBody>
      </p:sp>
      <p:sp>
        <p:nvSpPr>
          <p:cNvPr id="3" name="Content Placeholder 2">
            <a:extLst>
              <a:ext uri="{FF2B5EF4-FFF2-40B4-BE49-F238E27FC236}">
                <a16:creationId xmlns:a16="http://schemas.microsoft.com/office/drawing/2014/main" id="{16CF3343-CADB-66CC-4057-C5CF4CC8A442}"/>
              </a:ext>
            </a:extLst>
          </p:cNvPr>
          <p:cNvSpPr>
            <a:spLocks noGrp="1"/>
          </p:cNvSpPr>
          <p:nvPr>
            <p:ph idx="1"/>
          </p:nvPr>
        </p:nvSpPr>
        <p:spPr>
          <a:xfrm>
            <a:off x="436098" y="1336430"/>
            <a:ext cx="11240087" cy="5261317"/>
          </a:xfrm>
        </p:spPr>
        <p:txBody>
          <a:bodyPr>
            <a:normAutofit/>
          </a:bodyPr>
          <a:lstStyle/>
          <a:p>
            <a:pPr marL="0" indent="0">
              <a:buNone/>
            </a:pPr>
            <a:endParaRPr lang="en-US" dirty="0"/>
          </a:p>
          <a:p>
            <a:pPr>
              <a:buFont typeface="Arial" panose="020B0604020202020204" pitchFamily="34" charset="0"/>
              <a:buChar char="•"/>
            </a:pPr>
            <a:r>
              <a:rPr lang="en-US" dirty="0"/>
              <a:t>Analyze revenue and quantity trends (6–8 quarters)</a:t>
            </a:r>
          </a:p>
          <a:p>
            <a:pPr>
              <a:buFont typeface="Arial" panose="020B0604020202020204" pitchFamily="34" charset="0"/>
              <a:buChar char="•"/>
            </a:pPr>
            <a:r>
              <a:rPr lang="en-US" dirty="0"/>
              <a:t>Assess channel and account-level contribution</a:t>
            </a:r>
          </a:p>
          <a:p>
            <a:pPr>
              <a:buFont typeface="Arial" panose="020B0604020202020204" pitchFamily="34" charset="0"/>
              <a:buChar char="•"/>
            </a:pPr>
            <a:r>
              <a:rPr lang="en-US" dirty="0"/>
              <a:t>Observe SKU distribution throughout all the Zones.</a:t>
            </a:r>
          </a:p>
          <a:p>
            <a:pPr>
              <a:buFont typeface="Arial" panose="020B0604020202020204" pitchFamily="34" charset="0"/>
              <a:buChar char="•"/>
            </a:pPr>
            <a:r>
              <a:rPr lang="en-US" dirty="0"/>
              <a:t>Recommend actionable plan</a:t>
            </a:r>
          </a:p>
          <a:p>
            <a:endParaRPr lang="en-IN" dirty="0"/>
          </a:p>
        </p:txBody>
      </p:sp>
    </p:spTree>
    <p:extLst>
      <p:ext uri="{BB962C8B-B14F-4D97-AF65-F5344CB8AC3E}">
        <p14:creationId xmlns:p14="http://schemas.microsoft.com/office/powerpoint/2010/main" val="39984835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21B84-0AA4-3816-3E51-929644A649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9558A5-6DD5-58AF-907F-7C9634C76D7E}"/>
              </a:ext>
            </a:extLst>
          </p:cNvPr>
          <p:cNvSpPr>
            <a:spLocks noGrp="1"/>
          </p:cNvSpPr>
          <p:nvPr>
            <p:ph type="title"/>
          </p:nvPr>
        </p:nvSpPr>
        <p:spPr>
          <a:xfrm>
            <a:off x="838200" y="1"/>
            <a:ext cx="10515600" cy="618978"/>
          </a:xfrm>
        </p:spPr>
        <p:txBody>
          <a:bodyPr>
            <a:noAutofit/>
          </a:bodyPr>
          <a:lstStyle/>
          <a:p>
            <a:pPr algn="ctr"/>
            <a:r>
              <a:rPr lang="en-IN" sz="4400" dirty="0"/>
              <a:t>Overall Revenue &amp; Volume Trends - 1</a:t>
            </a:r>
          </a:p>
        </p:txBody>
      </p:sp>
      <p:sp>
        <p:nvSpPr>
          <p:cNvPr id="3" name="Content Placeholder 2">
            <a:extLst>
              <a:ext uri="{FF2B5EF4-FFF2-40B4-BE49-F238E27FC236}">
                <a16:creationId xmlns:a16="http://schemas.microsoft.com/office/drawing/2014/main" id="{66E36727-A8C0-2107-C646-3D729A7DE1B8}"/>
              </a:ext>
            </a:extLst>
          </p:cNvPr>
          <p:cNvSpPr>
            <a:spLocks noGrp="1"/>
          </p:cNvSpPr>
          <p:nvPr>
            <p:ph idx="1"/>
          </p:nvPr>
        </p:nvSpPr>
        <p:spPr>
          <a:xfrm>
            <a:off x="182879" y="745589"/>
            <a:ext cx="11859065" cy="6112410"/>
          </a:xfrm>
        </p:spPr>
        <p:txBody>
          <a:bodyPr>
            <a:normAutofit/>
          </a:bodyPr>
          <a:lstStyle/>
          <a:p>
            <a:r>
              <a:rPr lang="en-IN" dirty="0"/>
              <a:t>Chart 1: Revenue vs Quantity by Quarter</a:t>
            </a:r>
          </a:p>
        </p:txBody>
      </p:sp>
      <p:graphicFrame>
        <p:nvGraphicFramePr>
          <p:cNvPr id="7" name="Chart 6">
            <a:extLst>
              <a:ext uri="{FF2B5EF4-FFF2-40B4-BE49-F238E27FC236}">
                <a16:creationId xmlns:a16="http://schemas.microsoft.com/office/drawing/2014/main" id="{2F4F4289-AE96-963A-FDE5-04B5EB1E6E0F}"/>
              </a:ext>
            </a:extLst>
          </p:cNvPr>
          <p:cNvGraphicFramePr>
            <a:graphicFrameLocks/>
          </p:cNvGraphicFramePr>
          <p:nvPr>
            <p:extLst>
              <p:ext uri="{D42A27DB-BD31-4B8C-83A1-F6EECF244321}">
                <p14:modId xmlns:p14="http://schemas.microsoft.com/office/powerpoint/2010/main" val="1461148940"/>
              </p:ext>
            </p:extLst>
          </p:nvPr>
        </p:nvGraphicFramePr>
        <p:xfrm>
          <a:off x="150056" y="1322363"/>
          <a:ext cx="11891888" cy="530352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4006002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670AB-28CA-59E6-34B7-880DC76B94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52B661-B0F2-9E64-1D33-3C66386AD134}"/>
              </a:ext>
            </a:extLst>
          </p:cNvPr>
          <p:cNvSpPr>
            <a:spLocks noGrp="1"/>
          </p:cNvSpPr>
          <p:nvPr>
            <p:ph type="title"/>
          </p:nvPr>
        </p:nvSpPr>
        <p:spPr>
          <a:xfrm>
            <a:off x="838200" y="1"/>
            <a:ext cx="10515600" cy="633046"/>
          </a:xfrm>
        </p:spPr>
        <p:txBody>
          <a:bodyPr>
            <a:noAutofit/>
          </a:bodyPr>
          <a:lstStyle/>
          <a:p>
            <a:pPr algn="ctr"/>
            <a:r>
              <a:rPr lang="en-IN" sz="4400" dirty="0"/>
              <a:t>Overall Revenue &amp; Volume Trends - 2</a:t>
            </a:r>
          </a:p>
        </p:txBody>
      </p:sp>
      <p:sp>
        <p:nvSpPr>
          <p:cNvPr id="3" name="Content Placeholder 2">
            <a:extLst>
              <a:ext uri="{FF2B5EF4-FFF2-40B4-BE49-F238E27FC236}">
                <a16:creationId xmlns:a16="http://schemas.microsoft.com/office/drawing/2014/main" id="{BDBDFCF2-236F-3FB6-5E86-41345B241F8B}"/>
              </a:ext>
            </a:extLst>
          </p:cNvPr>
          <p:cNvSpPr>
            <a:spLocks noGrp="1"/>
          </p:cNvSpPr>
          <p:nvPr>
            <p:ph idx="1"/>
          </p:nvPr>
        </p:nvSpPr>
        <p:spPr>
          <a:xfrm>
            <a:off x="436098" y="773723"/>
            <a:ext cx="11240087" cy="5950633"/>
          </a:xfrm>
        </p:spPr>
        <p:txBody>
          <a:bodyPr>
            <a:normAutofit/>
          </a:bodyPr>
          <a:lstStyle/>
          <a:p>
            <a:r>
              <a:rPr lang="en-IN" dirty="0"/>
              <a:t>Chart 2: QoQ Growth %</a:t>
            </a:r>
          </a:p>
        </p:txBody>
      </p:sp>
      <p:graphicFrame>
        <p:nvGraphicFramePr>
          <p:cNvPr id="4" name="Chart 3">
            <a:extLst>
              <a:ext uri="{FF2B5EF4-FFF2-40B4-BE49-F238E27FC236}">
                <a16:creationId xmlns:a16="http://schemas.microsoft.com/office/drawing/2014/main" id="{6A17C887-6671-073F-1679-A183E8083F7E}"/>
              </a:ext>
            </a:extLst>
          </p:cNvPr>
          <p:cNvGraphicFramePr>
            <a:graphicFrameLocks/>
          </p:cNvGraphicFramePr>
          <p:nvPr>
            <p:extLst>
              <p:ext uri="{D42A27DB-BD31-4B8C-83A1-F6EECF244321}">
                <p14:modId xmlns:p14="http://schemas.microsoft.com/office/powerpoint/2010/main" val="208642383"/>
              </p:ext>
            </p:extLst>
          </p:nvPr>
        </p:nvGraphicFramePr>
        <p:xfrm>
          <a:off x="281355" y="1266093"/>
          <a:ext cx="11240086" cy="545826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3151413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9D0C1-4866-10A3-34FE-DFE30A920E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544454-785A-E3EE-CE2A-FCCEDC4A9E33}"/>
              </a:ext>
            </a:extLst>
          </p:cNvPr>
          <p:cNvSpPr>
            <a:spLocks noGrp="1"/>
          </p:cNvSpPr>
          <p:nvPr>
            <p:ph type="title"/>
          </p:nvPr>
        </p:nvSpPr>
        <p:spPr>
          <a:xfrm>
            <a:off x="838200" y="1"/>
            <a:ext cx="10515600" cy="633046"/>
          </a:xfrm>
        </p:spPr>
        <p:txBody>
          <a:bodyPr>
            <a:noAutofit/>
          </a:bodyPr>
          <a:lstStyle/>
          <a:p>
            <a:pPr algn="ctr"/>
            <a:r>
              <a:rPr lang="en-IN" sz="4400" dirty="0"/>
              <a:t>Overall Revenue &amp; Volume Trends-3</a:t>
            </a:r>
          </a:p>
        </p:txBody>
      </p:sp>
      <p:sp>
        <p:nvSpPr>
          <p:cNvPr id="3" name="Content Placeholder 2">
            <a:extLst>
              <a:ext uri="{FF2B5EF4-FFF2-40B4-BE49-F238E27FC236}">
                <a16:creationId xmlns:a16="http://schemas.microsoft.com/office/drawing/2014/main" id="{F45D672E-EAA1-1991-5E0C-C361DC3989EB}"/>
              </a:ext>
            </a:extLst>
          </p:cNvPr>
          <p:cNvSpPr>
            <a:spLocks noGrp="1"/>
          </p:cNvSpPr>
          <p:nvPr>
            <p:ph idx="1"/>
          </p:nvPr>
        </p:nvSpPr>
        <p:spPr>
          <a:xfrm>
            <a:off x="436098" y="1167618"/>
            <a:ext cx="11240087" cy="5556738"/>
          </a:xfrm>
        </p:spPr>
        <p:txBody>
          <a:bodyPr>
            <a:normAutofit/>
          </a:bodyPr>
          <a:lstStyle/>
          <a:p>
            <a:r>
              <a:rPr lang="en-US" b="1" dirty="0"/>
              <a:t>Key Insights:</a:t>
            </a:r>
          </a:p>
          <a:p>
            <a:endParaRPr lang="en-US" b="1" dirty="0"/>
          </a:p>
          <a:p>
            <a:pPr marL="971550" lvl="1" indent="-514350">
              <a:buFont typeface="+mj-lt"/>
              <a:buAutoNum type="arabicPeriod"/>
            </a:pPr>
            <a:r>
              <a:rPr lang="en-IN" dirty="0"/>
              <a:t>The year started with an impressive growth of 10% across all the channels for the Quarter 1 of FY23-24.</a:t>
            </a:r>
          </a:p>
          <a:p>
            <a:pPr marL="971550" lvl="1" indent="-514350">
              <a:buFont typeface="+mj-lt"/>
              <a:buAutoNum type="arabicPeriod"/>
            </a:pPr>
            <a:endParaRPr lang="en-IN" dirty="0"/>
          </a:p>
          <a:p>
            <a:pPr marL="971550" lvl="1" indent="-514350">
              <a:buFont typeface="+mj-lt"/>
              <a:buAutoNum type="arabicPeriod"/>
            </a:pPr>
            <a:r>
              <a:rPr lang="en-IN" dirty="0"/>
              <a:t>Even though the quantity sold looked impressive, it still failed to hit the mark of achieving the quarterly target and it plummeted negative results.</a:t>
            </a:r>
          </a:p>
          <a:p>
            <a:pPr marL="971550" lvl="1" indent="-514350">
              <a:buFont typeface="+mj-lt"/>
              <a:buAutoNum type="arabicPeriod"/>
            </a:pPr>
            <a:endParaRPr lang="en-IN" dirty="0"/>
          </a:p>
          <a:p>
            <a:pPr marL="971550" lvl="1" indent="-514350">
              <a:buFont typeface="+mj-lt"/>
              <a:buAutoNum type="arabicPeriod"/>
            </a:pPr>
            <a:r>
              <a:rPr lang="en-IN" dirty="0"/>
              <a:t>This is the common pattern observed consecutively for over 7 Quarters with the results ranging only in single digit achievement, whether negatively or positively, highlighting a flat or plateau phase (no growth observed).</a:t>
            </a:r>
          </a:p>
          <a:p>
            <a:pPr marL="971550" lvl="1" indent="-514350">
              <a:buFont typeface="+mj-lt"/>
              <a:buAutoNum type="arabicPeriod"/>
            </a:pPr>
            <a:endParaRPr lang="en-IN" dirty="0"/>
          </a:p>
          <a:p>
            <a:pPr marL="971550" lvl="1" indent="-514350">
              <a:buFont typeface="+mj-lt"/>
              <a:buAutoNum type="arabicPeriod"/>
            </a:pPr>
            <a:r>
              <a:rPr lang="en-IN" dirty="0"/>
              <a:t>Target Achievement fuelled majorly by the B2B accounts.</a:t>
            </a:r>
          </a:p>
          <a:p>
            <a:pPr marL="971550" lvl="1" indent="-514350">
              <a:buFont typeface="+mj-lt"/>
              <a:buAutoNum type="arabicPeriod"/>
            </a:pPr>
            <a:endParaRPr lang="en-IN" dirty="0"/>
          </a:p>
          <a:p>
            <a:pPr marL="971550" lvl="1" indent="-514350">
              <a:buFont typeface="+mj-lt"/>
              <a:buAutoNum type="arabicPeriod"/>
            </a:pPr>
            <a:endParaRPr lang="en-IN" dirty="0"/>
          </a:p>
          <a:p>
            <a:pPr marL="971550" lvl="1" indent="-514350">
              <a:buFont typeface="+mj-lt"/>
              <a:buAutoNum type="arabicPeriod"/>
            </a:pPr>
            <a:endParaRPr lang="en-IN" dirty="0"/>
          </a:p>
          <a:p>
            <a:pPr marL="971550" lvl="1" indent="-514350">
              <a:buFont typeface="+mj-lt"/>
              <a:buAutoNum type="arabicPeriod"/>
            </a:pPr>
            <a:endParaRPr lang="en-IN" dirty="0"/>
          </a:p>
        </p:txBody>
      </p:sp>
    </p:spTree>
    <p:extLst>
      <p:ext uri="{BB962C8B-B14F-4D97-AF65-F5344CB8AC3E}">
        <p14:creationId xmlns:p14="http://schemas.microsoft.com/office/powerpoint/2010/main" val="203763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64CA8-3669-1CA3-4737-0F629B22A5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E6D9CB-66C2-542C-17B1-C46A6BE051CF}"/>
              </a:ext>
            </a:extLst>
          </p:cNvPr>
          <p:cNvSpPr>
            <a:spLocks noGrp="1"/>
          </p:cNvSpPr>
          <p:nvPr>
            <p:ph type="title"/>
          </p:nvPr>
        </p:nvSpPr>
        <p:spPr>
          <a:xfrm>
            <a:off x="838200" y="0"/>
            <a:ext cx="10515600" cy="633046"/>
          </a:xfrm>
        </p:spPr>
        <p:txBody>
          <a:bodyPr>
            <a:noAutofit/>
          </a:bodyPr>
          <a:lstStyle/>
          <a:p>
            <a:pPr algn="ctr"/>
            <a:r>
              <a:rPr lang="en-IN" sz="4400" dirty="0"/>
              <a:t>Product Group Performance </a:t>
            </a:r>
          </a:p>
        </p:txBody>
      </p:sp>
      <p:sp>
        <p:nvSpPr>
          <p:cNvPr id="3" name="Content Placeholder 2">
            <a:extLst>
              <a:ext uri="{FF2B5EF4-FFF2-40B4-BE49-F238E27FC236}">
                <a16:creationId xmlns:a16="http://schemas.microsoft.com/office/drawing/2014/main" id="{61B6368A-4A91-4383-4A30-E08A52A2C759}"/>
              </a:ext>
            </a:extLst>
          </p:cNvPr>
          <p:cNvSpPr>
            <a:spLocks noGrp="1"/>
          </p:cNvSpPr>
          <p:nvPr>
            <p:ph idx="1"/>
          </p:nvPr>
        </p:nvSpPr>
        <p:spPr>
          <a:xfrm>
            <a:off x="436098" y="1153551"/>
            <a:ext cx="11240087" cy="5134707"/>
          </a:xfrm>
        </p:spPr>
        <p:txBody>
          <a:bodyPr>
            <a:normAutofit/>
          </a:bodyPr>
          <a:lstStyle/>
          <a:p>
            <a:pPr>
              <a:buFont typeface="Arial" panose="020B0604020202020204" pitchFamily="34" charset="0"/>
              <a:buChar char="•"/>
            </a:pPr>
            <a:r>
              <a:rPr lang="en-US" dirty="0"/>
              <a:t>Here, we studied and reviewed over 422 product groups which have distributed over all the 4 zones.</a:t>
            </a:r>
          </a:p>
          <a:p>
            <a:pPr>
              <a:buFont typeface="Arial" panose="020B0604020202020204" pitchFamily="34" charset="0"/>
              <a:buChar char="•"/>
            </a:pPr>
            <a:endParaRPr lang="en-US" dirty="0"/>
          </a:p>
          <a:p>
            <a:pPr>
              <a:buFont typeface="Arial" panose="020B0604020202020204" pitchFamily="34" charset="0"/>
              <a:buChar char="•"/>
            </a:pPr>
            <a:r>
              <a:rPr lang="en-IN" dirty="0"/>
              <a:t>While analysing using the Pareto Analysis, it has been found that about 55 Product Groups amount for about the 80% of the revenue.</a:t>
            </a:r>
          </a:p>
          <a:p>
            <a:pPr>
              <a:buFont typeface="Arial" panose="020B0604020202020204" pitchFamily="34" charset="0"/>
              <a:buChar char="•"/>
            </a:pPr>
            <a:endParaRPr lang="en-IN" dirty="0"/>
          </a:p>
          <a:p>
            <a:pPr>
              <a:buFont typeface="Arial" panose="020B0604020202020204" pitchFamily="34" charset="0"/>
              <a:buChar char="•"/>
            </a:pPr>
            <a:r>
              <a:rPr lang="en-IN" dirty="0"/>
              <a:t>Those 55 Product Groups are spread through the 3 main Channels and sum up to the major top 5 accounts contributing to the 60% of the revenue.</a:t>
            </a:r>
          </a:p>
        </p:txBody>
      </p:sp>
    </p:spTree>
    <p:extLst>
      <p:ext uri="{BB962C8B-B14F-4D97-AF65-F5344CB8AC3E}">
        <p14:creationId xmlns:p14="http://schemas.microsoft.com/office/powerpoint/2010/main" val="14137921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06664-1D11-DFB6-BEFE-3224AEF60A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719063-D4DC-6FC3-77B0-18AA3811F428}"/>
              </a:ext>
            </a:extLst>
          </p:cNvPr>
          <p:cNvSpPr>
            <a:spLocks noGrp="1"/>
          </p:cNvSpPr>
          <p:nvPr>
            <p:ph type="title"/>
          </p:nvPr>
        </p:nvSpPr>
        <p:spPr>
          <a:xfrm>
            <a:off x="838200" y="0"/>
            <a:ext cx="10515600" cy="633046"/>
          </a:xfrm>
        </p:spPr>
        <p:txBody>
          <a:bodyPr>
            <a:noAutofit/>
          </a:bodyPr>
          <a:lstStyle/>
          <a:p>
            <a:pPr algn="ctr"/>
            <a:r>
              <a:rPr lang="en-IN" sz="4400" dirty="0"/>
              <a:t>Product Group Performance - 2 </a:t>
            </a:r>
          </a:p>
        </p:txBody>
      </p:sp>
      <mc:AlternateContent xmlns:mc="http://schemas.openxmlformats.org/markup-compatibility/2006" xmlns:cx1="http://schemas.microsoft.com/office/drawing/2015/9/8/chartex">
        <mc:Choice Requires="cx1">
          <p:graphicFrame>
            <p:nvGraphicFramePr>
              <p:cNvPr id="4" name="Content Placeholder 3">
                <a:extLst>
                  <a:ext uri="{FF2B5EF4-FFF2-40B4-BE49-F238E27FC236}">
                    <a16:creationId xmlns:a16="http://schemas.microsoft.com/office/drawing/2014/main" id="{8B62D070-A5D4-AB50-A102-182E3D5C0B57}"/>
                  </a:ext>
                </a:extLst>
              </p:cNvPr>
              <p:cNvGraphicFramePr>
                <a:graphicFrameLocks noGrp="1"/>
              </p:cNvGraphicFramePr>
              <p:nvPr>
                <p:ph idx="1"/>
                <p:extLst>
                  <p:ext uri="{D42A27DB-BD31-4B8C-83A1-F6EECF244321}">
                    <p14:modId xmlns:p14="http://schemas.microsoft.com/office/powerpoint/2010/main" val="4124154196"/>
                  </p:ext>
                </p:extLst>
              </p:nvPr>
            </p:nvGraphicFramePr>
            <p:xfrm>
              <a:off x="436563" y="801858"/>
              <a:ext cx="11239500" cy="5880295"/>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4" name="Content Placeholder 3">
                <a:extLst>
                  <a:ext uri="{FF2B5EF4-FFF2-40B4-BE49-F238E27FC236}">
                    <a16:creationId xmlns:a16="http://schemas.microsoft.com/office/drawing/2014/main" id="{8B62D070-A5D4-AB50-A102-182E3D5C0B57}"/>
                  </a:ext>
                </a:extLst>
              </p:cNvPr>
              <p:cNvPicPr>
                <a:picLocks noGrp="1" noRot="1" noChangeAspect="1" noMove="1" noResize="1" noEditPoints="1" noAdjustHandles="1" noChangeArrowheads="1" noChangeShapeType="1"/>
              </p:cNvPicPr>
              <p:nvPr/>
            </p:nvPicPr>
            <p:blipFill>
              <a:blip r:embed="rId3"/>
              <a:stretch>
                <a:fillRect/>
              </a:stretch>
            </p:blipFill>
            <p:spPr>
              <a:xfrm>
                <a:off x="436563" y="801858"/>
                <a:ext cx="11239500" cy="5880295"/>
              </a:xfrm>
              <a:prstGeom prst="rect">
                <a:avLst/>
              </a:prstGeom>
            </p:spPr>
          </p:pic>
        </mc:Fallback>
      </mc:AlternateContent>
    </p:spTree>
    <p:extLst>
      <p:ext uri="{BB962C8B-B14F-4D97-AF65-F5344CB8AC3E}">
        <p14:creationId xmlns:p14="http://schemas.microsoft.com/office/powerpoint/2010/main" val="188502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A9E0B-51A9-D603-475B-DC4389DF41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44042F-8A2D-1851-E265-693BC6536128}"/>
              </a:ext>
            </a:extLst>
          </p:cNvPr>
          <p:cNvSpPr>
            <a:spLocks noGrp="1"/>
          </p:cNvSpPr>
          <p:nvPr>
            <p:ph type="title"/>
          </p:nvPr>
        </p:nvSpPr>
        <p:spPr>
          <a:xfrm>
            <a:off x="838200" y="0"/>
            <a:ext cx="10515600" cy="633046"/>
          </a:xfrm>
        </p:spPr>
        <p:txBody>
          <a:bodyPr>
            <a:noAutofit/>
          </a:bodyPr>
          <a:lstStyle/>
          <a:p>
            <a:pPr algn="ctr"/>
            <a:r>
              <a:rPr lang="en-IN" sz="4400" dirty="0"/>
              <a:t>Channel &amp; Account Analysis - 1</a:t>
            </a:r>
          </a:p>
        </p:txBody>
      </p:sp>
      <p:graphicFrame>
        <p:nvGraphicFramePr>
          <p:cNvPr id="4" name="Content Placeholder 3">
            <a:extLst>
              <a:ext uri="{FF2B5EF4-FFF2-40B4-BE49-F238E27FC236}">
                <a16:creationId xmlns:a16="http://schemas.microsoft.com/office/drawing/2014/main" id="{357AF322-3FD9-1DE4-5A84-D7261B74B6E3}"/>
              </a:ext>
            </a:extLst>
          </p:cNvPr>
          <p:cNvGraphicFramePr>
            <a:graphicFrameLocks noGrp="1"/>
          </p:cNvGraphicFramePr>
          <p:nvPr>
            <p:ph idx="1"/>
            <p:extLst>
              <p:ext uri="{D42A27DB-BD31-4B8C-83A1-F6EECF244321}">
                <p14:modId xmlns:p14="http://schemas.microsoft.com/office/powerpoint/2010/main" val="2148504472"/>
              </p:ext>
            </p:extLst>
          </p:nvPr>
        </p:nvGraphicFramePr>
        <p:xfrm>
          <a:off x="2874644" y="633047"/>
          <a:ext cx="5659903" cy="302455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Table 5">
            <a:extLst>
              <a:ext uri="{FF2B5EF4-FFF2-40B4-BE49-F238E27FC236}">
                <a16:creationId xmlns:a16="http://schemas.microsoft.com/office/drawing/2014/main" id="{A57668DC-CA87-67F9-2698-F8AAAF81608D}"/>
              </a:ext>
            </a:extLst>
          </p:cNvPr>
          <p:cNvGraphicFramePr>
            <a:graphicFrameLocks noGrp="1"/>
          </p:cNvGraphicFramePr>
          <p:nvPr>
            <p:extLst>
              <p:ext uri="{D42A27DB-BD31-4B8C-83A1-F6EECF244321}">
                <p14:modId xmlns:p14="http://schemas.microsoft.com/office/powerpoint/2010/main" val="4289514740"/>
              </p:ext>
            </p:extLst>
          </p:nvPr>
        </p:nvGraphicFramePr>
        <p:xfrm>
          <a:off x="838200" y="3847961"/>
          <a:ext cx="10515600" cy="2920608"/>
        </p:xfrm>
        <a:graphic>
          <a:graphicData uri="http://schemas.openxmlformats.org/drawingml/2006/table">
            <a:tbl>
              <a:tblPr>
                <a:tableStyleId>{22838BEF-8BB2-4498-84A7-C5851F593DF1}</a:tableStyleId>
              </a:tblPr>
              <a:tblGrid>
                <a:gridCol w="2628900">
                  <a:extLst>
                    <a:ext uri="{9D8B030D-6E8A-4147-A177-3AD203B41FA5}">
                      <a16:colId xmlns:a16="http://schemas.microsoft.com/office/drawing/2014/main" val="1479899160"/>
                    </a:ext>
                  </a:extLst>
                </a:gridCol>
                <a:gridCol w="2538160">
                  <a:extLst>
                    <a:ext uri="{9D8B030D-6E8A-4147-A177-3AD203B41FA5}">
                      <a16:colId xmlns:a16="http://schemas.microsoft.com/office/drawing/2014/main" val="1621088866"/>
                    </a:ext>
                  </a:extLst>
                </a:gridCol>
                <a:gridCol w="2719640">
                  <a:extLst>
                    <a:ext uri="{9D8B030D-6E8A-4147-A177-3AD203B41FA5}">
                      <a16:colId xmlns:a16="http://schemas.microsoft.com/office/drawing/2014/main" val="2403778482"/>
                    </a:ext>
                  </a:extLst>
                </a:gridCol>
                <a:gridCol w="2628900">
                  <a:extLst>
                    <a:ext uri="{9D8B030D-6E8A-4147-A177-3AD203B41FA5}">
                      <a16:colId xmlns:a16="http://schemas.microsoft.com/office/drawing/2014/main" val="2949334806"/>
                    </a:ext>
                  </a:extLst>
                </a:gridCol>
              </a:tblGrid>
              <a:tr h="687032">
                <a:tc>
                  <a:txBody>
                    <a:bodyPr/>
                    <a:lstStyle/>
                    <a:p>
                      <a:pPr>
                        <a:buNone/>
                      </a:pPr>
                      <a:r>
                        <a:rPr lang="en-IN" sz="2000" b="1" dirty="0"/>
                        <a:t>Channel</a:t>
                      </a:r>
                    </a:p>
                  </a:txBody>
                  <a:tcPr anchor="ctr"/>
                </a:tc>
                <a:tc>
                  <a:txBody>
                    <a:bodyPr/>
                    <a:lstStyle/>
                    <a:p>
                      <a:pPr>
                        <a:buNone/>
                      </a:pPr>
                      <a:r>
                        <a:rPr lang="en-IN" sz="2000" b="1" dirty="0"/>
                        <a:t>Revenue Share (Estimated)</a:t>
                      </a:r>
                    </a:p>
                  </a:txBody>
                  <a:tcPr anchor="ctr"/>
                </a:tc>
                <a:tc>
                  <a:txBody>
                    <a:bodyPr/>
                    <a:lstStyle/>
                    <a:p>
                      <a:pPr>
                        <a:buNone/>
                      </a:pPr>
                      <a:r>
                        <a:rPr lang="en-IN" sz="2000" b="1" dirty="0"/>
                        <a:t>Revenue Share (Achieved)</a:t>
                      </a:r>
                    </a:p>
                  </a:txBody>
                  <a:tcPr anchor="ctr"/>
                </a:tc>
                <a:tc>
                  <a:txBody>
                    <a:bodyPr/>
                    <a:lstStyle/>
                    <a:p>
                      <a:pPr>
                        <a:buNone/>
                      </a:pPr>
                      <a:r>
                        <a:rPr lang="en-IN" sz="2000" b="1" dirty="0"/>
                        <a:t>Key Accounts</a:t>
                      </a:r>
                    </a:p>
                  </a:txBody>
                  <a:tcPr anchor="ctr"/>
                </a:tc>
                <a:extLst>
                  <a:ext uri="{0D108BD9-81ED-4DB2-BD59-A6C34878D82A}">
                    <a16:rowId xmlns:a16="http://schemas.microsoft.com/office/drawing/2014/main" val="4254804607"/>
                  </a:ext>
                </a:extLst>
              </a:tr>
              <a:tr h="754907">
                <a:tc>
                  <a:txBody>
                    <a:bodyPr/>
                    <a:lstStyle/>
                    <a:p>
                      <a:pPr>
                        <a:buNone/>
                      </a:pPr>
                      <a:r>
                        <a:rPr lang="en-IN" sz="2000" b="1" dirty="0"/>
                        <a:t>B2B</a:t>
                      </a:r>
                    </a:p>
                  </a:txBody>
                  <a:tcPr anchor="ctr"/>
                </a:tc>
                <a:tc>
                  <a:txBody>
                    <a:bodyPr/>
                    <a:lstStyle/>
                    <a:p>
                      <a:pPr>
                        <a:buNone/>
                      </a:pPr>
                      <a:r>
                        <a:rPr lang="en-IN" sz="2000" dirty="0"/>
                        <a:t>28%</a:t>
                      </a:r>
                    </a:p>
                  </a:txBody>
                  <a:tcPr anchor="ctr"/>
                </a:tc>
                <a:tc>
                  <a:txBody>
                    <a:bodyPr/>
                    <a:lstStyle/>
                    <a:p>
                      <a:pPr>
                        <a:buNone/>
                      </a:pPr>
                      <a:r>
                        <a:rPr lang="en-IN" sz="2000" dirty="0"/>
                        <a:t>38%</a:t>
                      </a:r>
                    </a:p>
                  </a:txBody>
                  <a:tcPr anchor="ctr"/>
                </a:tc>
                <a:tc>
                  <a:txBody>
                    <a:bodyPr/>
                    <a:lstStyle/>
                    <a:p>
                      <a:pPr>
                        <a:buNone/>
                      </a:pPr>
                      <a:r>
                        <a:rPr lang="en-IN" sz="2000" dirty="0"/>
                        <a:t>Ascent</a:t>
                      </a:r>
                    </a:p>
                  </a:txBody>
                  <a:tcPr anchor="ctr"/>
                </a:tc>
                <a:extLst>
                  <a:ext uri="{0D108BD9-81ED-4DB2-BD59-A6C34878D82A}">
                    <a16:rowId xmlns:a16="http://schemas.microsoft.com/office/drawing/2014/main" val="657440350"/>
                  </a:ext>
                </a:extLst>
              </a:tr>
              <a:tr h="837985">
                <a:tc>
                  <a:txBody>
                    <a:bodyPr/>
                    <a:lstStyle/>
                    <a:p>
                      <a:pPr>
                        <a:buNone/>
                      </a:pPr>
                      <a:r>
                        <a:rPr lang="en-IN" sz="2000" b="1" dirty="0"/>
                        <a:t>Retail Chains</a:t>
                      </a:r>
                    </a:p>
                  </a:txBody>
                  <a:tcPr anchor="ctr"/>
                </a:tc>
                <a:tc>
                  <a:txBody>
                    <a:bodyPr/>
                    <a:lstStyle/>
                    <a:p>
                      <a:pPr>
                        <a:buNone/>
                      </a:pPr>
                      <a:r>
                        <a:rPr lang="en-IN" sz="2000" dirty="0"/>
                        <a:t>32%</a:t>
                      </a:r>
                    </a:p>
                  </a:txBody>
                  <a:tcPr anchor="ctr"/>
                </a:tc>
                <a:tc>
                  <a:txBody>
                    <a:bodyPr/>
                    <a:lstStyle/>
                    <a:p>
                      <a:pPr>
                        <a:buNone/>
                      </a:pPr>
                      <a:r>
                        <a:rPr lang="en-IN" sz="2000" dirty="0"/>
                        <a:t>41%</a:t>
                      </a:r>
                    </a:p>
                  </a:txBody>
                  <a:tcPr anchor="ctr"/>
                </a:tc>
                <a:tc>
                  <a:txBody>
                    <a:bodyPr/>
                    <a:lstStyle/>
                    <a:p>
                      <a:pPr>
                        <a:buNone/>
                      </a:pPr>
                      <a:r>
                        <a:rPr lang="en-US" sz="2000" dirty="0" err="1"/>
                        <a:t>MedPlus</a:t>
                      </a:r>
                      <a:r>
                        <a:rPr lang="en-US" sz="2000" dirty="0"/>
                        <a:t>, Apollo, Wellness.</a:t>
                      </a:r>
                      <a:endParaRPr lang="en-IN" sz="2000" dirty="0"/>
                    </a:p>
                  </a:txBody>
                  <a:tcPr anchor="ctr"/>
                </a:tc>
                <a:extLst>
                  <a:ext uri="{0D108BD9-81ED-4DB2-BD59-A6C34878D82A}">
                    <a16:rowId xmlns:a16="http://schemas.microsoft.com/office/drawing/2014/main" val="2263739812"/>
                  </a:ext>
                </a:extLst>
              </a:tr>
              <a:tr h="626676">
                <a:tc>
                  <a:txBody>
                    <a:bodyPr/>
                    <a:lstStyle/>
                    <a:p>
                      <a:pPr>
                        <a:buNone/>
                      </a:pPr>
                      <a:r>
                        <a:rPr lang="en-IN" sz="2000" b="1" dirty="0"/>
                        <a:t>E-commerce</a:t>
                      </a:r>
                    </a:p>
                  </a:txBody>
                  <a:tcPr anchor="ctr"/>
                </a:tc>
                <a:tc>
                  <a:txBody>
                    <a:bodyPr/>
                    <a:lstStyle/>
                    <a:p>
                      <a:pPr>
                        <a:buNone/>
                      </a:pPr>
                      <a:r>
                        <a:rPr lang="en-IN" sz="2000" dirty="0"/>
                        <a:t>40%</a:t>
                      </a:r>
                    </a:p>
                  </a:txBody>
                  <a:tcPr anchor="ctr"/>
                </a:tc>
                <a:tc>
                  <a:txBody>
                    <a:bodyPr/>
                    <a:lstStyle/>
                    <a:p>
                      <a:pPr>
                        <a:buNone/>
                      </a:pPr>
                      <a:r>
                        <a:rPr lang="en-IN" sz="2000" dirty="0"/>
                        <a:t>21%</a:t>
                      </a:r>
                    </a:p>
                  </a:txBody>
                  <a:tcPr anchor="ctr"/>
                </a:tc>
                <a:tc>
                  <a:txBody>
                    <a:bodyPr/>
                    <a:lstStyle/>
                    <a:p>
                      <a:pPr>
                        <a:buNone/>
                      </a:pPr>
                      <a:r>
                        <a:rPr lang="en-IN" sz="2000" dirty="0" err="1"/>
                        <a:t>Sastasun</a:t>
                      </a:r>
                      <a:r>
                        <a:rPr lang="en-IN" sz="2000" dirty="0"/>
                        <a:t>, Tata 1mg</a:t>
                      </a:r>
                    </a:p>
                  </a:txBody>
                  <a:tcPr anchor="ctr"/>
                </a:tc>
                <a:extLst>
                  <a:ext uri="{0D108BD9-81ED-4DB2-BD59-A6C34878D82A}">
                    <a16:rowId xmlns:a16="http://schemas.microsoft.com/office/drawing/2014/main" val="1861247294"/>
                  </a:ext>
                </a:extLst>
              </a:tr>
            </a:tbl>
          </a:graphicData>
        </a:graphic>
      </p:graphicFrame>
    </p:spTree>
    <p:extLst>
      <p:ext uri="{BB962C8B-B14F-4D97-AF65-F5344CB8AC3E}">
        <p14:creationId xmlns:p14="http://schemas.microsoft.com/office/powerpoint/2010/main" val="35532166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8EFDF-CC2C-BDAC-DA7D-DAF9F7066B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481F81-328E-6869-2982-7B04DD9A16FE}"/>
              </a:ext>
            </a:extLst>
          </p:cNvPr>
          <p:cNvSpPr>
            <a:spLocks noGrp="1"/>
          </p:cNvSpPr>
          <p:nvPr>
            <p:ph type="title"/>
          </p:nvPr>
        </p:nvSpPr>
        <p:spPr>
          <a:xfrm>
            <a:off x="838200" y="0"/>
            <a:ext cx="10515600" cy="633046"/>
          </a:xfrm>
        </p:spPr>
        <p:txBody>
          <a:bodyPr>
            <a:noAutofit/>
          </a:bodyPr>
          <a:lstStyle/>
          <a:p>
            <a:pPr algn="ctr"/>
            <a:r>
              <a:rPr lang="en-IN" sz="4400" dirty="0"/>
              <a:t>Channel &amp; Account Analysis - 2</a:t>
            </a:r>
          </a:p>
        </p:txBody>
      </p:sp>
      <mc:AlternateContent xmlns:mc="http://schemas.openxmlformats.org/markup-compatibility/2006" xmlns:cx1="http://schemas.microsoft.com/office/drawing/2015/9/8/chartex">
        <mc:Choice Requires="cx1">
          <p:graphicFrame>
            <p:nvGraphicFramePr>
              <p:cNvPr id="4" name="Content Placeholder 3">
                <a:extLst>
                  <a:ext uri="{FF2B5EF4-FFF2-40B4-BE49-F238E27FC236}">
                    <a16:creationId xmlns:a16="http://schemas.microsoft.com/office/drawing/2014/main" id="{D837EF04-683D-D66C-D7D6-91B122A3A2F5}"/>
                  </a:ext>
                </a:extLst>
              </p:cNvPr>
              <p:cNvGraphicFramePr>
                <a:graphicFrameLocks noGrp="1"/>
              </p:cNvGraphicFramePr>
              <p:nvPr>
                <p:ph idx="1"/>
                <p:extLst>
                  <p:ext uri="{D42A27DB-BD31-4B8C-83A1-F6EECF244321}">
                    <p14:modId xmlns:p14="http://schemas.microsoft.com/office/powerpoint/2010/main" val="4021619787"/>
                  </p:ext>
                </p:extLst>
              </p:nvPr>
            </p:nvGraphicFramePr>
            <p:xfrm>
              <a:off x="2224664" y="612614"/>
              <a:ext cx="7964365" cy="3629464"/>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4" name="Content Placeholder 3">
                <a:extLst>
                  <a:ext uri="{FF2B5EF4-FFF2-40B4-BE49-F238E27FC236}">
                    <a16:creationId xmlns:a16="http://schemas.microsoft.com/office/drawing/2014/main" id="{D837EF04-683D-D66C-D7D6-91B122A3A2F5}"/>
                  </a:ext>
                </a:extLst>
              </p:cNvPr>
              <p:cNvPicPr>
                <a:picLocks noGrp="1" noRot="1" noChangeAspect="1" noMove="1" noResize="1" noEditPoints="1" noAdjustHandles="1" noChangeArrowheads="1" noChangeShapeType="1"/>
              </p:cNvPicPr>
              <p:nvPr/>
            </p:nvPicPr>
            <p:blipFill>
              <a:blip r:embed="rId3"/>
              <a:stretch>
                <a:fillRect/>
              </a:stretch>
            </p:blipFill>
            <p:spPr>
              <a:xfrm>
                <a:off x="2224664" y="612614"/>
                <a:ext cx="7964365" cy="3629464"/>
              </a:xfrm>
              <a:prstGeom prst="rect">
                <a:avLst/>
              </a:prstGeom>
            </p:spPr>
          </p:pic>
        </mc:Fallback>
      </mc:AlternateContent>
      <p:sp>
        <p:nvSpPr>
          <p:cNvPr id="5" name="TextBox 4">
            <a:extLst>
              <a:ext uri="{FF2B5EF4-FFF2-40B4-BE49-F238E27FC236}">
                <a16:creationId xmlns:a16="http://schemas.microsoft.com/office/drawing/2014/main" id="{38DCCF37-4E4C-D5D0-3CDC-DD35C8434439}"/>
              </a:ext>
            </a:extLst>
          </p:cNvPr>
          <p:cNvSpPr txBox="1"/>
          <p:nvPr/>
        </p:nvSpPr>
        <p:spPr>
          <a:xfrm>
            <a:off x="653142" y="4430654"/>
            <a:ext cx="10813144" cy="2308324"/>
          </a:xfrm>
          <a:prstGeom prst="rect">
            <a:avLst/>
          </a:prstGeom>
          <a:noFill/>
        </p:spPr>
        <p:txBody>
          <a:bodyPr wrap="square" rtlCol="0">
            <a:spAutoFit/>
          </a:bodyPr>
          <a:lstStyle/>
          <a:p>
            <a:pPr marL="285750" indent="-285750">
              <a:buFont typeface="Arial" panose="020B0604020202020204" pitchFamily="34" charset="0"/>
              <a:buChar char="•"/>
            </a:pPr>
            <a:r>
              <a:rPr lang="en-US" dirty="0"/>
              <a:t>This very well explains how the 80/20 really works and how adopting it provides you the focus as well as helps you prioritize the cash flowing accounts.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above analysis is conducted by understanding the pattern observed in the Product Groups; which helps us understand the important accounts that harbor the revenue streams.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As mentioned, the top 5 accounts do contribute to the </a:t>
            </a:r>
            <a:r>
              <a:rPr lang="en-IN" dirty="0"/>
              <a:t>60%; however, the above 10 accounts contribute to more than 80% revenue, where the biggest Account belongs to the B2B Channel.</a:t>
            </a:r>
          </a:p>
        </p:txBody>
      </p:sp>
    </p:spTree>
    <p:extLst>
      <p:ext uri="{BB962C8B-B14F-4D97-AF65-F5344CB8AC3E}">
        <p14:creationId xmlns:p14="http://schemas.microsoft.com/office/powerpoint/2010/main" val="4213442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B6EDB-9F2D-9522-FDCC-6B06DCB49B34}"/>
              </a:ext>
            </a:extLst>
          </p:cNvPr>
          <p:cNvSpPr>
            <a:spLocks noGrp="1"/>
          </p:cNvSpPr>
          <p:nvPr>
            <p:ph type="title"/>
          </p:nvPr>
        </p:nvSpPr>
        <p:spPr>
          <a:xfrm>
            <a:off x="657606" y="0"/>
            <a:ext cx="10772775" cy="956603"/>
          </a:xfrm>
        </p:spPr>
        <p:txBody>
          <a:bodyPr>
            <a:normAutofit/>
          </a:bodyPr>
          <a:lstStyle/>
          <a:p>
            <a:pPr algn="ctr"/>
            <a:r>
              <a:rPr lang="en-IN" sz="4400" dirty="0"/>
              <a:t>Channel &amp; Account Analysis - 3</a:t>
            </a:r>
          </a:p>
        </p:txBody>
      </p:sp>
      <p:sp>
        <p:nvSpPr>
          <p:cNvPr id="3" name="Content Placeholder 2">
            <a:extLst>
              <a:ext uri="{FF2B5EF4-FFF2-40B4-BE49-F238E27FC236}">
                <a16:creationId xmlns:a16="http://schemas.microsoft.com/office/drawing/2014/main" id="{A131B2E9-AA1A-BC51-C970-168181A490F7}"/>
              </a:ext>
            </a:extLst>
          </p:cNvPr>
          <p:cNvSpPr>
            <a:spLocks noGrp="1"/>
          </p:cNvSpPr>
          <p:nvPr>
            <p:ph idx="1"/>
          </p:nvPr>
        </p:nvSpPr>
        <p:spPr>
          <a:xfrm>
            <a:off x="676656" y="1069146"/>
            <a:ext cx="10753725" cy="4708720"/>
          </a:xfrm>
        </p:spPr>
        <p:txBody>
          <a:bodyPr/>
          <a:lstStyle/>
          <a:p>
            <a:pPr>
              <a:buFont typeface="Arial" panose="020B0604020202020204" pitchFamily="34" charset="0"/>
              <a:buChar char="•"/>
            </a:pPr>
            <a:r>
              <a:rPr lang="en-US" b="1" dirty="0"/>
              <a:t>Key Insights :</a:t>
            </a:r>
          </a:p>
          <a:p>
            <a:pPr marL="0" indent="0">
              <a:buNone/>
            </a:pPr>
            <a:endParaRPr lang="en-US" dirty="0"/>
          </a:p>
          <a:p>
            <a:pPr marL="461772" lvl="1" indent="-457200">
              <a:buFont typeface="+mj-lt"/>
              <a:buAutoNum type="arabicPeriod"/>
            </a:pPr>
            <a:r>
              <a:rPr lang="en-US" dirty="0"/>
              <a:t>Initial expectation of E-commerce dominance was too high.</a:t>
            </a:r>
          </a:p>
          <a:p>
            <a:pPr marL="461772" lvl="1" indent="-457200">
              <a:buFont typeface="+mj-lt"/>
              <a:buAutoNum type="arabicPeriod"/>
            </a:pPr>
            <a:endParaRPr lang="en-US" dirty="0"/>
          </a:p>
          <a:p>
            <a:pPr marL="461772" lvl="1" indent="-457200">
              <a:buFont typeface="+mj-lt"/>
              <a:buAutoNum type="arabicPeriod"/>
            </a:pPr>
            <a:r>
              <a:rPr lang="en-US" dirty="0"/>
              <a:t>E-commerce </a:t>
            </a:r>
            <a:r>
              <a:rPr lang="en-US" b="1" dirty="0"/>
              <a:t>dramatically underperformed</a:t>
            </a:r>
            <a:r>
              <a:rPr lang="en-US" dirty="0"/>
              <a:t> its estimated share by almost 50%.</a:t>
            </a:r>
          </a:p>
          <a:p>
            <a:pPr marL="461772" lvl="1" indent="-457200">
              <a:buFont typeface="+mj-lt"/>
              <a:buAutoNum type="arabicPeriod"/>
            </a:pPr>
            <a:endParaRPr lang="en-US" dirty="0"/>
          </a:p>
          <a:p>
            <a:pPr marL="461772" lvl="1" indent="-457200">
              <a:buFont typeface="+mj-lt"/>
              <a:buAutoNum type="arabicPeriod"/>
            </a:pPr>
            <a:r>
              <a:rPr lang="en-US" dirty="0"/>
              <a:t>The B2B and Retail Channels outperformed their revenue expectation and are the true stabilizers of the business.</a:t>
            </a:r>
            <a:endParaRPr lang="en-IN" dirty="0"/>
          </a:p>
        </p:txBody>
      </p:sp>
    </p:spTree>
    <p:extLst>
      <p:ext uri="{BB962C8B-B14F-4D97-AF65-F5344CB8AC3E}">
        <p14:creationId xmlns:p14="http://schemas.microsoft.com/office/powerpoint/2010/main" val="9600447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1E236-3089-9261-8CB5-695FDCF34A57}"/>
              </a:ext>
            </a:extLst>
          </p:cNvPr>
          <p:cNvSpPr>
            <a:spLocks noGrp="1"/>
          </p:cNvSpPr>
          <p:nvPr>
            <p:ph type="title"/>
          </p:nvPr>
        </p:nvSpPr>
        <p:spPr>
          <a:xfrm>
            <a:off x="838200" y="0"/>
            <a:ext cx="10515600" cy="971306"/>
          </a:xfrm>
        </p:spPr>
        <p:txBody>
          <a:bodyPr>
            <a:normAutofit/>
          </a:bodyPr>
          <a:lstStyle/>
          <a:p>
            <a:pPr algn="ctr"/>
            <a:r>
              <a:rPr lang="en-US" sz="4400" dirty="0"/>
              <a:t>Zonal Distribution of Product SKUs.</a:t>
            </a:r>
            <a:endParaRPr lang="en-IN" sz="4400" dirty="0"/>
          </a:p>
        </p:txBody>
      </p:sp>
      <p:graphicFrame>
        <p:nvGraphicFramePr>
          <p:cNvPr id="4" name="Content Placeholder 3">
            <a:extLst>
              <a:ext uri="{FF2B5EF4-FFF2-40B4-BE49-F238E27FC236}">
                <a16:creationId xmlns:a16="http://schemas.microsoft.com/office/drawing/2014/main" id="{1F9A56E3-228C-8CA9-DD95-78DB39A1E955}"/>
              </a:ext>
            </a:extLst>
          </p:cNvPr>
          <p:cNvGraphicFramePr>
            <a:graphicFrameLocks noGrp="1"/>
          </p:cNvGraphicFramePr>
          <p:nvPr>
            <p:ph idx="1"/>
            <p:extLst>
              <p:ext uri="{D42A27DB-BD31-4B8C-83A1-F6EECF244321}">
                <p14:modId xmlns:p14="http://schemas.microsoft.com/office/powerpoint/2010/main" val="1730234995"/>
              </p:ext>
            </p:extLst>
          </p:nvPr>
        </p:nvGraphicFramePr>
        <p:xfrm>
          <a:off x="182880" y="971550"/>
          <a:ext cx="6879102" cy="5569927"/>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5C173E90-349D-6B1D-892F-BB872D1B18F2}"/>
              </a:ext>
            </a:extLst>
          </p:cNvPr>
          <p:cNvSpPr txBox="1"/>
          <p:nvPr/>
        </p:nvSpPr>
        <p:spPr>
          <a:xfrm>
            <a:off x="7287065" y="2011680"/>
            <a:ext cx="4529797" cy="1754326"/>
          </a:xfrm>
          <a:prstGeom prst="rect">
            <a:avLst/>
          </a:prstGeom>
          <a:noFill/>
        </p:spPr>
        <p:txBody>
          <a:bodyPr wrap="square" rtlCol="0">
            <a:spAutoFit/>
          </a:bodyPr>
          <a:lstStyle/>
          <a:p>
            <a:pPr marL="285750" indent="-285750">
              <a:buFont typeface="Arial" panose="020B0604020202020204" pitchFamily="34" charset="0"/>
              <a:buChar char="•"/>
            </a:pPr>
            <a:r>
              <a:rPr lang="en-US" dirty="0"/>
              <a:t>The Highest quantity of SKUs sold in the Southern-2 zone of the entire country amongst the complete Product Group</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Highest number of SKUs are sold by Telmikind Product Group. </a:t>
            </a:r>
            <a:endParaRPr lang="en-IN" dirty="0"/>
          </a:p>
        </p:txBody>
      </p:sp>
    </p:spTree>
    <p:extLst>
      <p:ext uri="{BB962C8B-B14F-4D97-AF65-F5344CB8AC3E}">
        <p14:creationId xmlns:p14="http://schemas.microsoft.com/office/powerpoint/2010/main" val="35370062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B14A2-CED3-E450-22BB-69B9F39418A1}"/>
              </a:ext>
            </a:extLst>
          </p:cNvPr>
          <p:cNvSpPr>
            <a:spLocks noGrp="1"/>
          </p:cNvSpPr>
          <p:nvPr>
            <p:ph type="title"/>
          </p:nvPr>
        </p:nvSpPr>
        <p:spPr>
          <a:xfrm>
            <a:off x="676656" y="0"/>
            <a:ext cx="10772775" cy="759655"/>
          </a:xfrm>
        </p:spPr>
        <p:txBody>
          <a:bodyPr>
            <a:normAutofit/>
          </a:bodyPr>
          <a:lstStyle/>
          <a:p>
            <a:pPr algn="ctr"/>
            <a:r>
              <a:rPr lang="en-US" sz="4400" dirty="0"/>
              <a:t>Recommended Action Plan and Insights</a:t>
            </a:r>
            <a:endParaRPr lang="en-IN" sz="4400" dirty="0"/>
          </a:p>
        </p:txBody>
      </p:sp>
      <p:sp>
        <p:nvSpPr>
          <p:cNvPr id="3" name="Content Placeholder 2">
            <a:extLst>
              <a:ext uri="{FF2B5EF4-FFF2-40B4-BE49-F238E27FC236}">
                <a16:creationId xmlns:a16="http://schemas.microsoft.com/office/drawing/2014/main" id="{02D3AFA7-3874-B9C4-D0E3-7CE4DF7B7A5E}"/>
              </a:ext>
            </a:extLst>
          </p:cNvPr>
          <p:cNvSpPr>
            <a:spLocks noGrp="1"/>
          </p:cNvSpPr>
          <p:nvPr>
            <p:ph idx="1"/>
          </p:nvPr>
        </p:nvSpPr>
        <p:spPr>
          <a:xfrm>
            <a:off x="0" y="759656"/>
            <a:ext cx="12191999" cy="6098344"/>
          </a:xfrm>
        </p:spPr>
        <p:txBody>
          <a:bodyPr>
            <a:noAutofit/>
          </a:bodyPr>
          <a:lstStyle/>
          <a:p>
            <a:pPr>
              <a:buFont typeface="Arial" panose="020B0604020202020204" pitchFamily="34" charset="0"/>
              <a:buChar char="•"/>
            </a:pPr>
            <a:r>
              <a:rPr lang="en-US" sz="2100" dirty="0"/>
              <a:t>Focus on Targeting new accounts in the Ecommerce sector to increase the sales such as Consumer Centric Platforms for the promotion of Nutraceuticals Segment, since people have started being mindful of </a:t>
            </a:r>
            <a:r>
              <a:rPr lang="en-US" sz="2100"/>
              <a:t>their Well-Being </a:t>
            </a:r>
            <a:r>
              <a:rPr lang="en-US" sz="2100" dirty="0"/>
              <a:t>and practicing ‘Clean Eating and Healthy Living’.</a:t>
            </a:r>
          </a:p>
          <a:p>
            <a:pPr>
              <a:buFont typeface="Arial" panose="020B0604020202020204" pitchFamily="34" charset="0"/>
              <a:buChar char="•"/>
            </a:pPr>
            <a:endParaRPr lang="en-US" sz="2100" dirty="0"/>
          </a:p>
          <a:p>
            <a:pPr>
              <a:buFont typeface="Arial" panose="020B0604020202020204" pitchFamily="34" charset="0"/>
              <a:buChar char="•"/>
            </a:pPr>
            <a:r>
              <a:rPr lang="en-US" sz="2100" dirty="0"/>
              <a:t>Start Incentives and Partnership deals with Content Creators  to bring more awareness about the Nutraceuticals sector as people as more present on the digital platforms.</a:t>
            </a:r>
          </a:p>
          <a:p>
            <a:pPr>
              <a:buFont typeface="Arial" panose="020B0604020202020204" pitchFamily="34" charset="0"/>
              <a:buChar char="•"/>
            </a:pPr>
            <a:endParaRPr lang="en-US" sz="2100" dirty="0"/>
          </a:p>
          <a:p>
            <a:pPr>
              <a:buFont typeface="Arial" panose="020B0604020202020204" pitchFamily="34" charset="0"/>
              <a:buChar char="•"/>
            </a:pPr>
            <a:r>
              <a:rPr lang="en-US" sz="2100" dirty="0"/>
              <a:t>The Zonal distribution of SKUs helped in understanding of the preferences of product groups amongst different Geographical Zones, thus, instead of focusing on all the groups, we should focus on providing seasonal offers as well as bundle deals to the loyal consumers of the particular Segments based on the seasons change.</a:t>
            </a:r>
          </a:p>
          <a:p>
            <a:pPr>
              <a:buFont typeface="Arial" panose="020B0604020202020204" pitchFamily="34" charset="0"/>
              <a:buChar char="•"/>
            </a:pPr>
            <a:endParaRPr lang="en-US" sz="2100" dirty="0"/>
          </a:p>
          <a:p>
            <a:pPr>
              <a:buFont typeface="Arial" panose="020B0604020202020204" pitchFamily="34" charset="0"/>
              <a:buChar char="•"/>
            </a:pPr>
            <a:r>
              <a:rPr lang="en-US" sz="2100" dirty="0"/>
              <a:t>Induce an active participation in Sponsorship of the Sports Events for the promotion of the products relevant to maintain a better lifestyle by distribution trial packets for the consumers to feel and use the product.</a:t>
            </a:r>
          </a:p>
          <a:p>
            <a:pPr>
              <a:buFont typeface="Arial" panose="020B0604020202020204" pitchFamily="34" charset="0"/>
              <a:buChar char="•"/>
            </a:pPr>
            <a:endParaRPr lang="en-US" sz="2100" dirty="0"/>
          </a:p>
          <a:p>
            <a:pPr>
              <a:buFont typeface="Arial" panose="020B0604020202020204" pitchFamily="34" charset="0"/>
              <a:buChar char="•"/>
            </a:pPr>
            <a:r>
              <a:rPr lang="en-US" sz="2100" dirty="0"/>
              <a:t>Partner with Quick Commerce platforms to distribute sample packs with a certain order value as to get in the mind of the consumer. This helps in the easy promotion of the product.</a:t>
            </a:r>
          </a:p>
          <a:p>
            <a:pPr>
              <a:buFont typeface="Arial" panose="020B0604020202020204" pitchFamily="34" charset="0"/>
              <a:buChar char="•"/>
            </a:pPr>
            <a:endParaRPr lang="en-IN" sz="2100" dirty="0"/>
          </a:p>
        </p:txBody>
      </p:sp>
    </p:spTree>
    <p:extLst>
      <p:ext uri="{BB962C8B-B14F-4D97-AF65-F5344CB8AC3E}">
        <p14:creationId xmlns:p14="http://schemas.microsoft.com/office/powerpoint/2010/main" val="1377916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3AD19-E976-760A-0B16-8BC31379FEC9}"/>
              </a:ext>
            </a:extLst>
          </p:cNvPr>
          <p:cNvSpPr>
            <a:spLocks noGrp="1"/>
          </p:cNvSpPr>
          <p:nvPr>
            <p:ph type="title"/>
          </p:nvPr>
        </p:nvSpPr>
        <p:spPr>
          <a:xfrm>
            <a:off x="709612" y="21231"/>
            <a:ext cx="10772775" cy="710289"/>
          </a:xfrm>
        </p:spPr>
        <p:txBody>
          <a:bodyPr>
            <a:normAutofit/>
          </a:bodyPr>
          <a:lstStyle/>
          <a:p>
            <a:pPr algn="ctr"/>
            <a:r>
              <a:rPr lang="en-US" sz="4400" dirty="0"/>
              <a:t>Recommended Action Plan and Insights - 2</a:t>
            </a:r>
            <a:endParaRPr lang="en-IN" sz="4400" dirty="0"/>
          </a:p>
        </p:txBody>
      </p:sp>
      <p:sp>
        <p:nvSpPr>
          <p:cNvPr id="3" name="Content Placeholder 2">
            <a:extLst>
              <a:ext uri="{FF2B5EF4-FFF2-40B4-BE49-F238E27FC236}">
                <a16:creationId xmlns:a16="http://schemas.microsoft.com/office/drawing/2014/main" id="{DFAE4A1C-CCDB-57C4-7677-9ADA229E1A48}"/>
              </a:ext>
            </a:extLst>
          </p:cNvPr>
          <p:cNvSpPr>
            <a:spLocks noGrp="1"/>
          </p:cNvSpPr>
          <p:nvPr>
            <p:ph idx="1"/>
          </p:nvPr>
        </p:nvSpPr>
        <p:spPr>
          <a:xfrm>
            <a:off x="657606" y="1139252"/>
            <a:ext cx="11004511" cy="5331885"/>
          </a:xfrm>
        </p:spPr>
        <p:txBody>
          <a:bodyPr/>
          <a:lstStyle/>
          <a:p>
            <a:pPr>
              <a:buFont typeface="Arial" panose="020B0604020202020204" pitchFamily="34" charset="0"/>
              <a:buChar char="•"/>
            </a:pPr>
            <a:r>
              <a:rPr lang="en-US" dirty="0"/>
              <a:t> Keeping in mind the budget spent of 6Cr. for previous FY, we have allocated a budget of 10 Cr. this FY, allowing us to be in 4Cr. surplus. Refer the below bifurcation to achieve new growth:</a:t>
            </a:r>
          </a:p>
          <a:p>
            <a:pPr>
              <a:buFont typeface="Arial" panose="020B0604020202020204" pitchFamily="34" charset="0"/>
              <a:buChar char="•"/>
            </a:pPr>
            <a:endParaRPr lang="en-US" dirty="0"/>
          </a:p>
          <a:p>
            <a:pPr>
              <a:buFont typeface="Arial" panose="020B0604020202020204" pitchFamily="34" charset="0"/>
              <a:buChar char="•"/>
            </a:pPr>
            <a:endParaRPr lang="en-US" dirty="0"/>
          </a:p>
          <a:p>
            <a:pPr marL="0" indent="0">
              <a:buNone/>
            </a:pPr>
            <a:endParaRPr lang="en-US" dirty="0"/>
          </a:p>
          <a:p>
            <a:pPr>
              <a:buFont typeface="Arial" panose="020B0604020202020204" pitchFamily="34" charset="0"/>
              <a:buChar char="•"/>
            </a:pPr>
            <a:endParaRPr lang="en-IN" dirty="0"/>
          </a:p>
        </p:txBody>
      </p:sp>
      <p:graphicFrame>
        <p:nvGraphicFramePr>
          <p:cNvPr id="6" name="Table 5">
            <a:extLst>
              <a:ext uri="{FF2B5EF4-FFF2-40B4-BE49-F238E27FC236}">
                <a16:creationId xmlns:a16="http://schemas.microsoft.com/office/drawing/2014/main" id="{8BF25D73-ECD0-0052-78D5-B81AC3EC531C}"/>
              </a:ext>
            </a:extLst>
          </p:cNvPr>
          <p:cNvGraphicFramePr>
            <a:graphicFrameLocks noGrp="1"/>
          </p:cNvGraphicFramePr>
          <p:nvPr>
            <p:extLst>
              <p:ext uri="{D42A27DB-BD31-4B8C-83A1-F6EECF244321}">
                <p14:modId xmlns:p14="http://schemas.microsoft.com/office/powerpoint/2010/main" val="2357592179"/>
              </p:ext>
            </p:extLst>
          </p:nvPr>
        </p:nvGraphicFramePr>
        <p:xfrm>
          <a:off x="830152" y="2551293"/>
          <a:ext cx="10206890" cy="3658303"/>
        </p:xfrm>
        <a:graphic>
          <a:graphicData uri="http://schemas.openxmlformats.org/drawingml/2006/table">
            <a:tbl>
              <a:tblPr firstRow="1" bandRow="1">
                <a:tableStyleId>{5C22544A-7EE6-4342-B048-85BDC9FD1C3A}</a:tableStyleId>
              </a:tblPr>
              <a:tblGrid>
                <a:gridCol w="2041378">
                  <a:extLst>
                    <a:ext uri="{9D8B030D-6E8A-4147-A177-3AD203B41FA5}">
                      <a16:colId xmlns:a16="http://schemas.microsoft.com/office/drawing/2014/main" val="260560300"/>
                    </a:ext>
                  </a:extLst>
                </a:gridCol>
                <a:gridCol w="2041378">
                  <a:extLst>
                    <a:ext uri="{9D8B030D-6E8A-4147-A177-3AD203B41FA5}">
                      <a16:colId xmlns:a16="http://schemas.microsoft.com/office/drawing/2014/main" val="2786529677"/>
                    </a:ext>
                  </a:extLst>
                </a:gridCol>
                <a:gridCol w="2041378">
                  <a:extLst>
                    <a:ext uri="{9D8B030D-6E8A-4147-A177-3AD203B41FA5}">
                      <a16:colId xmlns:a16="http://schemas.microsoft.com/office/drawing/2014/main" val="3368384718"/>
                    </a:ext>
                  </a:extLst>
                </a:gridCol>
                <a:gridCol w="2041378">
                  <a:extLst>
                    <a:ext uri="{9D8B030D-6E8A-4147-A177-3AD203B41FA5}">
                      <a16:colId xmlns:a16="http://schemas.microsoft.com/office/drawing/2014/main" val="1584546947"/>
                    </a:ext>
                  </a:extLst>
                </a:gridCol>
                <a:gridCol w="2041378">
                  <a:extLst>
                    <a:ext uri="{9D8B030D-6E8A-4147-A177-3AD203B41FA5}">
                      <a16:colId xmlns:a16="http://schemas.microsoft.com/office/drawing/2014/main" val="2545606950"/>
                    </a:ext>
                  </a:extLst>
                </a:gridCol>
              </a:tblGrid>
              <a:tr h="644379">
                <a:tc>
                  <a:txBody>
                    <a:bodyPr/>
                    <a:lstStyle/>
                    <a:p>
                      <a:pPr algn="ctr" rtl="0" fontAlgn="b">
                        <a:buNone/>
                      </a:pPr>
                      <a:r>
                        <a:rPr lang="en-IN" dirty="0">
                          <a:effectLst/>
                        </a:rPr>
                        <a:t>Channel</a:t>
                      </a:r>
                    </a:p>
                  </a:txBody>
                  <a:tcPr marL="28575" marR="28575" marT="19050" marB="19050" anchor="b"/>
                </a:tc>
                <a:tc>
                  <a:txBody>
                    <a:bodyPr/>
                    <a:lstStyle/>
                    <a:p>
                      <a:pPr algn="ctr" rtl="0" fontAlgn="b">
                        <a:buNone/>
                      </a:pPr>
                      <a:r>
                        <a:rPr lang="en-US" dirty="0">
                          <a:effectLst/>
                        </a:rPr>
                        <a:t>Last FY Allocation (Based on 6 Cr total)</a:t>
                      </a:r>
                    </a:p>
                  </a:txBody>
                  <a:tcPr marL="28575" marR="28575" marT="19050" marB="19050" anchor="b"/>
                </a:tc>
                <a:tc>
                  <a:txBody>
                    <a:bodyPr/>
                    <a:lstStyle/>
                    <a:p>
                      <a:pPr algn="ctr" rtl="0" fontAlgn="b">
                        <a:buNone/>
                      </a:pPr>
                      <a:r>
                        <a:rPr lang="en-US" dirty="0">
                          <a:effectLst/>
                        </a:rPr>
                        <a:t>Next FY Proposed Budget (10 Cr total)</a:t>
                      </a:r>
                    </a:p>
                  </a:txBody>
                  <a:tcPr marL="28575" marR="28575" marT="19050" marB="19050" anchor="b"/>
                </a:tc>
                <a:tc>
                  <a:txBody>
                    <a:bodyPr/>
                    <a:lstStyle/>
                    <a:p>
                      <a:pPr algn="ctr" rtl="0" fontAlgn="b">
                        <a:buNone/>
                      </a:pPr>
                      <a:r>
                        <a:rPr lang="en-IN" dirty="0">
                          <a:effectLst/>
                        </a:rPr>
                        <a:t>Absolute Change</a:t>
                      </a:r>
                    </a:p>
                  </a:txBody>
                  <a:tcPr marL="28575" marR="28575" marT="19050" marB="19050" anchor="b"/>
                </a:tc>
                <a:tc>
                  <a:txBody>
                    <a:bodyPr/>
                    <a:lstStyle/>
                    <a:p>
                      <a:pPr algn="ctr" rtl="0" fontAlgn="b">
                        <a:buNone/>
                      </a:pPr>
                      <a:r>
                        <a:rPr lang="en-IN" dirty="0">
                          <a:effectLst/>
                        </a:rPr>
                        <a:t>Change (%)</a:t>
                      </a:r>
                    </a:p>
                  </a:txBody>
                  <a:tcPr marL="28575" marR="28575" marT="19050" marB="19050" anchor="b"/>
                </a:tc>
                <a:extLst>
                  <a:ext uri="{0D108BD9-81ED-4DB2-BD59-A6C34878D82A}">
                    <a16:rowId xmlns:a16="http://schemas.microsoft.com/office/drawing/2014/main" val="4034894866"/>
                  </a:ext>
                </a:extLst>
              </a:tr>
              <a:tr h="753481">
                <a:tc>
                  <a:txBody>
                    <a:bodyPr/>
                    <a:lstStyle/>
                    <a:p>
                      <a:pPr algn="ctr" rtl="0" fontAlgn="b">
                        <a:buNone/>
                      </a:pPr>
                      <a:r>
                        <a:rPr lang="en-IN" b="1" dirty="0">
                          <a:effectLst/>
                        </a:rPr>
                        <a:t>B2B</a:t>
                      </a:r>
                    </a:p>
                  </a:txBody>
                  <a:tcPr marL="28575" marR="28575" marT="19050" marB="19050" anchor="b"/>
                </a:tc>
                <a:tc>
                  <a:txBody>
                    <a:bodyPr/>
                    <a:lstStyle/>
                    <a:p>
                      <a:pPr algn="ctr" rtl="0" fontAlgn="b">
                        <a:buNone/>
                      </a:pPr>
                      <a:r>
                        <a:rPr lang="en-IN" dirty="0">
                          <a:effectLst/>
                        </a:rPr>
                        <a:t>28% →1.68 Cr</a:t>
                      </a:r>
                    </a:p>
                  </a:txBody>
                  <a:tcPr marL="28575" marR="28575" marT="19050" marB="19050" anchor="b"/>
                </a:tc>
                <a:tc>
                  <a:txBody>
                    <a:bodyPr/>
                    <a:lstStyle/>
                    <a:p>
                      <a:pPr algn="ctr" rtl="0" fontAlgn="b">
                        <a:buNone/>
                      </a:pPr>
                      <a:r>
                        <a:rPr lang="en-IN">
                          <a:effectLst/>
                        </a:rPr>
                        <a:t>3.5 Cr</a:t>
                      </a:r>
                    </a:p>
                  </a:txBody>
                  <a:tcPr marL="28575" marR="28575" marT="19050" marB="19050" anchor="b"/>
                </a:tc>
                <a:tc>
                  <a:txBody>
                    <a:bodyPr/>
                    <a:lstStyle/>
                    <a:p>
                      <a:pPr algn="ctr" rtl="0" fontAlgn="b">
                        <a:buNone/>
                      </a:pPr>
                      <a:r>
                        <a:rPr lang="en-IN">
                          <a:effectLst/>
                        </a:rPr>
                        <a:t>+1.82 Cr</a:t>
                      </a:r>
                    </a:p>
                  </a:txBody>
                  <a:tcPr marL="28575" marR="28575" marT="19050" marB="19050" anchor="b"/>
                </a:tc>
                <a:tc>
                  <a:txBody>
                    <a:bodyPr/>
                    <a:lstStyle/>
                    <a:p>
                      <a:pPr algn="ctr" rtl="0" fontAlgn="b">
                        <a:buNone/>
                      </a:pPr>
                      <a:r>
                        <a:rPr lang="en-IN">
                          <a:effectLst/>
                        </a:rPr>
                        <a:t>+108%</a:t>
                      </a:r>
                    </a:p>
                  </a:txBody>
                  <a:tcPr marL="28575" marR="28575" marT="19050" marB="19050" anchor="b"/>
                </a:tc>
                <a:extLst>
                  <a:ext uri="{0D108BD9-81ED-4DB2-BD59-A6C34878D82A}">
                    <a16:rowId xmlns:a16="http://schemas.microsoft.com/office/drawing/2014/main" val="1462081103"/>
                  </a:ext>
                </a:extLst>
              </a:tr>
              <a:tr h="753481">
                <a:tc>
                  <a:txBody>
                    <a:bodyPr/>
                    <a:lstStyle/>
                    <a:p>
                      <a:pPr algn="ctr" rtl="0" fontAlgn="b">
                        <a:buNone/>
                      </a:pPr>
                      <a:r>
                        <a:rPr lang="en-IN" b="1" dirty="0">
                          <a:effectLst/>
                        </a:rPr>
                        <a:t>Retail Chains</a:t>
                      </a:r>
                    </a:p>
                  </a:txBody>
                  <a:tcPr marL="28575" marR="28575" marT="19050" marB="19050" anchor="b"/>
                </a:tc>
                <a:tc>
                  <a:txBody>
                    <a:bodyPr/>
                    <a:lstStyle/>
                    <a:p>
                      <a:pPr algn="ctr" rtl="0" fontAlgn="b">
                        <a:buNone/>
                      </a:pPr>
                      <a:r>
                        <a:rPr lang="en-IN" dirty="0">
                          <a:effectLst/>
                        </a:rPr>
                        <a:t>32% →1.92 Cr</a:t>
                      </a:r>
                    </a:p>
                  </a:txBody>
                  <a:tcPr marL="28575" marR="28575" marT="19050" marB="19050" anchor="b"/>
                </a:tc>
                <a:tc>
                  <a:txBody>
                    <a:bodyPr/>
                    <a:lstStyle/>
                    <a:p>
                      <a:pPr algn="ctr" rtl="0" fontAlgn="b">
                        <a:buNone/>
                      </a:pPr>
                      <a:r>
                        <a:rPr lang="en-IN" dirty="0">
                          <a:effectLst/>
                        </a:rPr>
                        <a:t>3.5 Cr</a:t>
                      </a:r>
                    </a:p>
                  </a:txBody>
                  <a:tcPr marL="28575" marR="28575" marT="19050" marB="19050" anchor="b"/>
                </a:tc>
                <a:tc>
                  <a:txBody>
                    <a:bodyPr/>
                    <a:lstStyle/>
                    <a:p>
                      <a:pPr algn="ctr" rtl="0" fontAlgn="b">
                        <a:buNone/>
                      </a:pPr>
                      <a:r>
                        <a:rPr lang="en-IN">
                          <a:effectLst/>
                        </a:rPr>
                        <a:t>+1.58 Cr</a:t>
                      </a:r>
                    </a:p>
                  </a:txBody>
                  <a:tcPr marL="28575" marR="28575" marT="19050" marB="19050" anchor="b"/>
                </a:tc>
                <a:tc>
                  <a:txBody>
                    <a:bodyPr/>
                    <a:lstStyle/>
                    <a:p>
                      <a:pPr algn="ctr" rtl="0" fontAlgn="b">
                        <a:buNone/>
                      </a:pPr>
                      <a:r>
                        <a:rPr lang="en-IN">
                          <a:effectLst/>
                        </a:rPr>
                        <a:t>+82%</a:t>
                      </a:r>
                    </a:p>
                  </a:txBody>
                  <a:tcPr marL="28575" marR="28575" marT="19050" marB="19050" anchor="b"/>
                </a:tc>
                <a:extLst>
                  <a:ext uri="{0D108BD9-81ED-4DB2-BD59-A6C34878D82A}">
                    <a16:rowId xmlns:a16="http://schemas.microsoft.com/office/drawing/2014/main" val="1465214940"/>
                  </a:ext>
                </a:extLst>
              </a:tr>
              <a:tr h="753481">
                <a:tc>
                  <a:txBody>
                    <a:bodyPr/>
                    <a:lstStyle/>
                    <a:p>
                      <a:pPr algn="ctr" rtl="0" fontAlgn="b">
                        <a:buNone/>
                      </a:pPr>
                      <a:r>
                        <a:rPr lang="en-IN" b="1" dirty="0">
                          <a:effectLst/>
                        </a:rPr>
                        <a:t>E-commerce</a:t>
                      </a:r>
                    </a:p>
                  </a:txBody>
                  <a:tcPr marL="28575" marR="28575" marT="19050" marB="19050" anchor="b"/>
                </a:tc>
                <a:tc>
                  <a:txBody>
                    <a:bodyPr/>
                    <a:lstStyle/>
                    <a:p>
                      <a:pPr algn="ctr" rtl="0" fontAlgn="b">
                        <a:buNone/>
                      </a:pPr>
                      <a:r>
                        <a:rPr lang="en-IN">
                          <a:effectLst/>
                        </a:rPr>
                        <a:t>40% →2.40 Cr</a:t>
                      </a:r>
                    </a:p>
                  </a:txBody>
                  <a:tcPr marL="28575" marR="28575" marT="19050" marB="19050" anchor="b"/>
                </a:tc>
                <a:tc>
                  <a:txBody>
                    <a:bodyPr/>
                    <a:lstStyle/>
                    <a:p>
                      <a:pPr algn="ctr" rtl="0" fontAlgn="b">
                        <a:buNone/>
                      </a:pPr>
                      <a:r>
                        <a:rPr lang="en-IN" dirty="0">
                          <a:effectLst/>
                        </a:rPr>
                        <a:t>3.0 Cr</a:t>
                      </a:r>
                    </a:p>
                  </a:txBody>
                  <a:tcPr marL="28575" marR="28575" marT="19050" marB="19050" anchor="b"/>
                </a:tc>
                <a:tc>
                  <a:txBody>
                    <a:bodyPr/>
                    <a:lstStyle/>
                    <a:p>
                      <a:pPr algn="ctr" rtl="0" fontAlgn="b">
                        <a:buNone/>
                      </a:pPr>
                      <a:r>
                        <a:rPr lang="en-IN">
                          <a:effectLst/>
                        </a:rPr>
                        <a:t>+0.60 Cr</a:t>
                      </a:r>
                    </a:p>
                  </a:txBody>
                  <a:tcPr marL="28575" marR="28575" marT="19050" marB="19050" anchor="b"/>
                </a:tc>
                <a:tc>
                  <a:txBody>
                    <a:bodyPr/>
                    <a:lstStyle/>
                    <a:p>
                      <a:pPr algn="ctr" rtl="0" fontAlgn="b">
                        <a:buNone/>
                      </a:pPr>
                      <a:r>
                        <a:rPr lang="en-IN">
                          <a:effectLst/>
                        </a:rPr>
                        <a:t>+25%</a:t>
                      </a:r>
                    </a:p>
                  </a:txBody>
                  <a:tcPr marL="28575" marR="28575" marT="19050" marB="19050" anchor="b"/>
                </a:tc>
                <a:extLst>
                  <a:ext uri="{0D108BD9-81ED-4DB2-BD59-A6C34878D82A}">
                    <a16:rowId xmlns:a16="http://schemas.microsoft.com/office/drawing/2014/main" val="2315988523"/>
                  </a:ext>
                </a:extLst>
              </a:tr>
              <a:tr h="753481">
                <a:tc>
                  <a:txBody>
                    <a:bodyPr/>
                    <a:lstStyle/>
                    <a:p>
                      <a:pPr algn="ctr" rtl="0" fontAlgn="b">
                        <a:buNone/>
                      </a:pPr>
                      <a:r>
                        <a:rPr lang="en-IN" b="1" dirty="0">
                          <a:effectLst/>
                        </a:rPr>
                        <a:t>TOTAL</a:t>
                      </a:r>
                    </a:p>
                  </a:txBody>
                  <a:tcPr marL="28575" marR="28575" marT="19050" marB="19050" anchor="b"/>
                </a:tc>
                <a:tc>
                  <a:txBody>
                    <a:bodyPr/>
                    <a:lstStyle/>
                    <a:p>
                      <a:pPr algn="ctr" rtl="0" fontAlgn="b">
                        <a:buNone/>
                      </a:pPr>
                      <a:r>
                        <a:rPr lang="en-IN" b="1" dirty="0">
                          <a:effectLst/>
                        </a:rPr>
                        <a:t>6.0 Cr</a:t>
                      </a:r>
                    </a:p>
                  </a:txBody>
                  <a:tcPr marL="28575" marR="28575" marT="19050" marB="19050" anchor="b"/>
                </a:tc>
                <a:tc>
                  <a:txBody>
                    <a:bodyPr/>
                    <a:lstStyle/>
                    <a:p>
                      <a:pPr algn="ctr" rtl="0" fontAlgn="b">
                        <a:buNone/>
                      </a:pPr>
                      <a:r>
                        <a:rPr lang="en-IN" b="1" dirty="0">
                          <a:effectLst/>
                        </a:rPr>
                        <a:t>10.0 Cr</a:t>
                      </a:r>
                    </a:p>
                  </a:txBody>
                  <a:tcPr marL="28575" marR="28575" marT="19050" marB="19050" anchor="b"/>
                </a:tc>
                <a:tc>
                  <a:txBody>
                    <a:bodyPr/>
                    <a:lstStyle/>
                    <a:p>
                      <a:pPr algn="ctr" rtl="0" fontAlgn="b">
                        <a:buNone/>
                      </a:pPr>
                      <a:r>
                        <a:rPr lang="en-IN" b="1" dirty="0">
                          <a:effectLst/>
                        </a:rPr>
                        <a:t>4.0 Cr</a:t>
                      </a:r>
                    </a:p>
                  </a:txBody>
                  <a:tcPr marL="28575" marR="28575" marT="19050" marB="19050" anchor="b"/>
                </a:tc>
                <a:tc>
                  <a:txBody>
                    <a:bodyPr/>
                    <a:lstStyle/>
                    <a:p>
                      <a:pPr algn="ctr" rtl="0" fontAlgn="b">
                        <a:buNone/>
                      </a:pPr>
                      <a:endParaRPr lang="en-IN" dirty="0">
                        <a:effectLst/>
                      </a:endParaRPr>
                    </a:p>
                  </a:txBody>
                  <a:tcPr marL="28575" marR="28575" marT="19050" marB="19050" anchor="b"/>
                </a:tc>
                <a:extLst>
                  <a:ext uri="{0D108BD9-81ED-4DB2-BD59-A6C34878D82A}">
                    <a16:rowId xmlns:a16="http://schemas.microsoft.com/office/drawing/2014/main" val="669586137"/>
                  </a:ext>
                </a:extLst>
              </a:tr>
            </a:tbl>
          </a:graphicData>
        </a:graphic>
      </p:graphicFrame>
    </p:spTree>
    <p:extLst>
      <p:ext uri="{BB962C8B-B14F-4D97-AF65-F5344CB8AC3E}">
        <p14:creationId xmlns:p14="http://schemas.microsoft.com/office/powerpoint/2010/main" val="42735349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CE940-171C-3D88-CBF1-678F3D708383}"/>
              </a:ext>
            </a:extLst>
          </p:cNvPr>
          <p:cNvSpPr>
            <a:spLocks noGrp="1"/>
          </p:cNvSpPr>
          <p:nvPr>
            <p:ph type="title"/>
          </p:nvPr>
        </p:nvSpPr>
        <p:spPr>
          <a:xfrm>
            <a:off x="667130" y="0"/>
            <a:ext cx="10772775" cy="1080135"/>
          </a:xfrm>
        </p:spPr>
        <p:txBody>
          <a:bodyPr>
            <a:normAutofit/>
          </a:bodyPr>
          <a:lstStyle/>
          <a:p>
            <a:pPr algn="ctr"/>
            <a:r>
              <a:rPr lang="en-US" sz="4400" dirty="0"/>
              <a:t>Recommended Action Plan and Insights -3</a:t>
            </a:r>
            <a:endParaRPr lang="en-IN" sz="4400" dirty="0"/>
          </a:p>
        </p:txBody>
      </p:sp>
      <p:sp>
        <p:nvSpPr>
          <p:cNvPr id="3" name="Content Placeholder 2">
            <a:extLst>
              <a:ext uri="{FF2B5EF4-FFF2-40B4-BE49-F238E27FC236}">
                <a16:creationId xmlns:a16="http://schemas.microsoft.com/office/drawing/2014/main" id="{36C07F0F-6492-54D0-E234-BF800F45F516}"/>
              </a:ext>
            </a:extLst>
          </p:cNvPr>
          <p:cNvSpPr>
            <a:spLocks noGrp="1"/>
          </p:cNvSpPr>
          <p:nvPr>
            <p:ph idx="1"/>
          </p:nvPr>
        </p:nvSpPr>
        <p:spPr>
          <a:xfrm>
            <a:off x="676656" y="1181686"/>
            <a:ext cx="10753725" cy="5264084"/>
          </a:xfrm>
        </p:spPr>
        <p:txBody>
          <a:bodyPr>
            <a:normAutofit/>
          </a:bodyPr>
          <a:lstStyle/>
          <a:p>
            <a:r>
              <a:rPr lang="en-US" dirty="0"/>
              <a:t>The Rationale behind the shown allocations:</a:t>
            </a:r>
          </a:p>
          <a:p>
            <a:pPr marL="457200" indent="-457200">
              <a:buFont typeface="+mj-lt"/>
              <a:buAutoNum type="arabicPeriod"/>
            </a:pPr>
            <a:r>
              <a:rPr lang="en-US" dirty="0"/>
              <a:t>As B2B are proven to be high-performers, the focus should be on JBP (Joint Business Planning) to secure better payment terms and exclusivity/shelf space for the 55 key SKUs. </a:t>
            </a:r>
          </a:p>
          <a:p>
            <a:pPr marL="457200" indent="-457200">
              <a:buFont typeface="+mj-lt"/>
              <a:buAutoNum type="arabicPeriod"/>
            </a:pPr>
            <a:endParaRPr lang="en-US" b="1" dirty="0"/>
          </a:p>
          <a:p>
            <a:pPr marL="457200" indent="-457200">
              <a:buFont typeface="+mj-lt"/>
              <a:buAutoNum type="arabicPeriod"/>
            </a:pPr>
            <a:r>
              <a:rPr lang="en-US" dirty="0"/>
              <a:t>Retails Chains have proven to be efficient time over time. Now, we must invest in in-store promotions and JBP for top chains (</a:t>
            </a:r>
            <a:r>
              <a:rPr lang="en-US" dirty="0" err="1"/>
              <a:t>MedPlus</a:t>
            </a:r>
            <a:r>
              <a:rPr lang="en-US" dirty="0"/>
              <a:t>, Apollo) to drive trial of 55 key SKUs in Southern-2 and other high-potential zones.</a:t>
            </a:r>
          </a:p>
          <a:p>
            <a:pPr marL="457200" indent="-457200">
              <a:buFont typeface="+mj-lt"/>
              <a:buAutoNum type="arabicPeriod"/>
            </a:pPr>
            <a:endParaRPr lang="en-US" dirty="0"/>
          </a:p>
          <a:p>
            <a:pPr marL="457200" indent="-457200">
              <a:buFont typeface="+mj-lt"/>
              <a:buAutoNum type="arabicPeriod"/>
            </a:pPr>
            <a:r>
              <a:rPr lang="en-US" dirty="0"/>
              <a:t>Ecommerce is still a growing channel. We must shift investments from generic deep discounts to targeted Nutraceuticals awareness (Content Creators, Quick Commerce Samples). The increase is low to limit risk and focus only on awareness/trial promotion, not price.</a:t>
            </a:r>
            <a:endParaRPr lang="en-IN" dirty="0"/>
          </a:p>
        </p:txBody>
      </p:sp>
    </p:spTree>
    <p:extLst>
      <p:ext uri="{BB962C8B-B14F-4D97-AF65-F5344CB8AC3E}">
        <p14:creationId xmlns:p14="http://schemas.microsoft.com/office/powerpoint/2010/main" val="23964556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21FF6-8338-26E5-BEA6-AEFD2FEC86C2}"/>
              </a:ext>
            </a:extLst>
          </p:cNvPr>
          <p:cNvSpPr>
            <a:spLocks noGrp="1"/>
          </p:cNvSpPr>
          <p:nvPr>
            <p:ph type="title"/>
          </p:nvPr>
        </p:nvSpPr>
        <p:spPr>
          <a:xfrm>
            <a:off x="709612" y="2975447"/>
            <a:ext cx="10772775" cy="1658198"/>
          </a:xfrm>
        </p:spPr>
        <p:txBody>
          <a:bodyPr/>
          <a:lstStyle/>
          <a:p>
            <a:r>
              <a:rPr lang="en-US" dirty="0"/>
              <a:t>The End.</a:t>
            </a:r>
            <a:endParaRPr lang="en-IN" dirty="0"/>
          </a:p>
        </p:txBody>
      </p:sp>
    </p:spTree>
    <p:extLst>
      <p:ext uri="{BB962C8B-B14F-4D97-AF65-F5344CB8AC3E}">
        <p14:creationId xmlns:p14="http://schemas.microsoft.com/office/powerpoint/2010/main" val="579084097"/>
      </p:ext>
    </p:extLst>
  </p:cSld>
  <p:clrMapOvr>
    <a:masterClrMapping/>
  </p:clrMapOvr>
</p:sld>
</file>

<file path=ppt/theme/theme1.xml><?xml version="1.0" encoding="utf-8"?>
<a:theme xmlns:a="http://schemas.openxmlformats.org/drawingml/2006/main" name="Metropolita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TM03457491[[fn=Metropolitan]]</Template>
  <TotalTime>769</TotalTime>
  <Words>1026</Words>
  <Application>Microsoft Office PowerPoint</Application>
  <PresentationFormat>Widescreen</PresentationFormat>
  <Paragraphs>140</Paragraphs>
  <Slides>16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Calibri Light</vt:lpstr>
      <vt:lpstr>Metropolitan</vt:lpstr>
      <vt:lpstr>Commercial Performance Analysis</vt:lpstr>
      <vt:lpstr>Objective &amp; Challenges Addressed</vt:lpstr>
      <vt:lpstr>Approach Taken</vt:lpstr>
      <vt:lpstr>Overall Revenue &amp; Volume Trends - 1</vt:lpstr>
      <vt:lpstr>Overall Revenue &amp; Volume Trends - 2</vt:lpstr>
      <vt:lpstr>Overall Revenue &amp; Volume Trends-3</vt:lpstr>
      <vt:lpstr>Product Group Performance </vt:lpstr>
      <vt:lpstr>Product Group Performance - 2 </vt:lpstr>
      <vt:lpstr>Channel &amp; Account Analysis - 1</vt:lpstr>
      <vt:lpstr>Channel &amp; Account Analysis - 2</vt:lpstr>
      <vt:lpstr>Channel &amp; Account Analysis - 3</vt:lpstr>
      <vt:lpstr>Zonal Distribution of Product SKUs.</vt:lpstr>
      <vt:lpstr>Recommended Action Plan and Insights</vt:lpstr>
      <vt:lpstr>Recommended Action Plan and Insights - 2</vt:lpstr>
      <vt:lpstr>Recommended Action Plan and Insights -3</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HP</cp:lastModifiedBy>
  <cp:revision>45</cp:revision>
  <dcterms:created xsi:type="dcterms:W3CDTF">2025-10-13T06:18:50Z</dcterms:created>
  <dcterms:modified xsi:type="dcterms:W3CDTF">2025-10-14T07:20:43Z</dcterms:modified>
</cp:coreProperties>
</file>